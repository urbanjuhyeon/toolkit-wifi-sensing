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67" r:id="rId2"/>
    <p:sldId id="268" r:id="rId3"/>
    <p:sldId id="269" r:id="rId4"/>
    <p:sldId id="272" r:id="rId5"/>
    <p:sldId id="271" r:id="rId6"/>
    <p:sldId id="270" r:id="rId7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8F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2" autoAdjust="0"/>
  </p:normalViewPr>
  <p:slideViewPr>
    <p:cSldViewPr snapToGrid="0">
      <p:cViewPr>
        <p:scale>
          <a:sx n="75" d="100"/>
          <a:sy n="75" d="100"/>
        </p:scale>
        <p:origin x="1080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293547-EDB4-4510-BF86-1EEDEA0C351D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29E39-F6EB-4F6F-953A-7F0A85A7D8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2907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229E39-F6EB-4F6F-953A-7F0A85A7D82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4677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96707-6CB6-42E7-A689-0C60D664C72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33AE3-33C6-4ECE-973B-1B7201179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905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96707-6CB6-42E7-A689-0C60D664C72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33AE3-33C6-4ECE-973B-1B7201179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479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/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96707-6CB6-42E7-A689-0C60D664C72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33AE3-33C6-4ECE-973B-1B7201179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03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96707-6CB6-42E7-A689-0C60D664C72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33AE3-33C6-4ECE-973B-1B7201179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932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96707-6CB6-42E7-A689-0C60D664C72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33AE3-33C6-4ECE-973B-1B7201179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934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96707-6CB6-42E7-A689-0C60D664C72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33AE3-33C6-4ECE-973B-1B7201179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74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96707-6CB6-42E7-A689-0C60D664C72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33AE3-33C6-4ECE-973B-1B7201179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28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96707-6CB6-42E7-A689-0C60D664C72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33AE3-33C6-4ECE-973B-1B7201179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923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96707-6CB6-42E7-A689-0C60D664C72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33AE3-33C6-4ECE-973B-1B7201179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15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96707-6CB6-42E7-A689-0C60D664C72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33AE3-33C6-4ECE-973B-1B7201179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17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96707-6CB6-42E7-A689-0C60D664C72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33AE3-33C6-4ECE-973B-1B7201179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621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396707-6CB6-42E7-A689-0C60D664C72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F33AE3-33C6-4ECE-973B-1B7201179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574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5CE1C-6AC6-B340-00DC-7C2CE0D60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C68EE2AD-5FA5-1D01-ACFC-A1084D301D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0000"/>
                    </a14:imgEffect>
                    <a14:imgEffect>
                      <a14:saturation sat="0"/>
                    </a14:imgEffect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39" r="8967" b="2357"/>
          <a:stretch>
            <a:fillRect/>
          </a:stretch>
        </p:blipFill>
        <p:spPr bwMode="auto">
          <a:xfrm>
            <a:off x="1536700" y="2074566"/>
            <a:ext cx="7150101" cy="4611984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19CC467-69D9-E2CF-5862-053A0EE23268}"/>
              </a:ext>
            </a:extLst>
          </p:cNvPr>
          <p:cNvSpPr/>
          <p:nvPr/>
        </p:nvSpPr>
        <p:spPr>
          <a:xfrm>
            <a:off x="5999828" y="4081432"/>
            <a:ext cx="942109" cy="461624"/>
          </a:xfrm>
          <a:prstGeom prst="rect">
            <a:avLst/>
          </a:prstGeom>
          <a:noFill/>
          <a:ln>
            <a:noFill/>
          </a:ln>
          <a:effectLst>
            <a:glow rad="419100">
              <a:schemeClr val="tx1"/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ko-KR" sz="1200" b="1" i="1" dirty="0">
                <a:ln w="19050">
                  <a:noFill/>
                </a:ln>
                <a:solidFill>
                  <a:srgbClr val="00FFEC"/>
                </a:solidFill>
                <a:effectLst>
                  <a:glow rad="228600">
                    <a:schemeClr val="tx1"/>
                  </a:glow>
                </a:effectLst>
                <a:latin typeface="Arial Nova" panose="020B0504020202020204" pitchFamily="34" charset="0"/>
              </a:rPr>
              <a:t>WiFi </a:t>
            </a:r>
            <a:br>
              <a:rPr lang="en-US" altLang="ko-KR" sz="1200" b="1" i="1" dirty="0">
                <a:ln w="19050">
                  <a:noFill/>
                </a:ln>
                <a:solidFill>
                  <a:srgbClr val="00FFEC"/>
                </a:solidFill>
                <a:effectLst>
                  <a:glow rad="228600">
                    <a:schemeClr val="tx1"/>
                  </a:glow>
                </a:effectLst>
                <a:latin typeface="Arial Nova" panose="020B0504020202020204" pitchFamily="34" charset="0"/>
              </a:rPr>
            </a:br>
            <a:r>
              <a:rPr lang="en-US" altLang="ko-KR" sz="1200" b="1" i="1" dirty="0">
                <a:ln w="19050">
                  <a:noFill/>
                </a:ln>
                <a:solidFill>
                  <a:srgbClr val="00FFEC"/>
                </a:solidFill>
                <a:effectLst>
                  <a:glow rad="228600">
                    <a:schemeClr val="tx1"/>
                  </a:glow>
                </a:effectLst>
                <a:latin typeface="Arial Nova" panose="020B0504020202020204" pitchFamily="34" charset="0"/>
              </a:rPr>
              <a:t>Packet</a:t>
            </a:r>
            <a:endParaRPr lang="ko-KR" altLang="en-US" sz="1200" b="1" i="1" dirty="0">
              <a:ln w="19050">
                <a:noFill/>
              </a:ln>
              <a:solidFill>
                <a:srgbClr val="00FFEC"/>
              </a:solidFill>
              <a:effectLst>
                <a:glow rad="228600">
                  <a:schemeClr val="tx1"/>
                </a:glow>
              </a:effectLst>
              <a:latin typeface="Arial Nova" panose="020B0504020202020204" pitchFamily="34" charset="0"/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E65494E5-7CC0-259F-A961-7D3BDDD0105C}"/>
              </a:ext>
            </a:extLst>
          </p:cNvPr>
          <p:cNvSpPr/>
          <p:nvPr/>
        </p:nvSpPr>
        <p:spPr>
          <a:xfrm>
            <a:off x="6801773" y="3386548"/>
            <a:ext cx="720231" cy="1771650"/>
          </a:xfrm>
          <a:custGeom>
            <a:avLst/>
            <a:gdLst>
              <a:gd name="connsiteX0" fmla="*/ 582299 w 678625"/>
              <a:gd name="connsiteY0" fmla="*/ 1838325 h 1838325"/>
              <a:gd name="connsiteX1" fmla="*/ 639449 w 678625"/>
              <a:gd name="connsiteY1" fmla="*/ 1104900 h 1838325"/>
              <a:gd name="connsiteX2" fmla="*/ 67949 w 678625"/>
              <a:gd name="connsiteY2" fmla="*/ 628650 h 1838325"/>
              <a:gd name="connsiteX3" fmla="*/ 10799 w 678625"/>
              <a:gd name="connsiteY3" fmla="*/ 66675 h 1838325"/>
              <a:gd name="connsiteX4" fmla="*/ 10799 w 678625"/>
              <a:gd name="connsiteY4" fmla="*/ 66675 h 1838325"/>
              <a:gd name="connsiteX5" fmla="*/ 439424 w 678625"/>
              <a:gd name="connsiteY5" fmla="*/ 0 h 1838325"/>
              <a:gd name="connsiteX0" fmla="*/ 582299 w 678625"/>
              <a:gd name="connsiteY0" fmla="*/ 1771650 h 1771650"/>
              <a:gd name="connsiteX1" fmla="*/ 639449 w 678625"/>
              <a:gd name="connsiteY1" fmla="*/ 1038225 h 1771650"/>
              <a:gd name="connsiteX2" fmla="*/ 67949 w 678625"/>
              <a:gd name="connsiteY2" fmla="*/ 561975 h 1771650"/>
              <a:gd name="connsiteX3" fmla="*/ 10799 w 678625"/>
              <a:gd name="connsiteY3" fmla="*/ 0 h 1771650"/>
              <a:gd name="connsiteX4" fmla="*/ 10799 w 678625"/>
              <a:gd name="connsiteY4" fmla="*/ 0 h 1771650"/>
              <a:gd name="connsiteX0" fmla="*/ 582299 w 678625"/>
              <a:gd name="connsiteY0" fmla="*/ 1771650 h 1771650"/>
              <a:gd name="connsiteX1" fmla="*/ 639449 w 678625"/>
              <a:gd name="connsiteY1" fmla="*/ 1038225 h 1771650"/>
              <a:gd name="connsiteX2" fmla="*/ 67949 w 678625"/>
              <a:gd name="connsiteY2" fmla="*/ 561975 h 1771650"/>
              <a:gd name="connsiteX3" fmla="*/ 10799 w 678625"/>
              <a:gd name="connsiteY3" fmla="*/ 0 h 1771650"/>
              <a:gd name="connsiteX4" fmla="*/ 275118 w 678625"/>
              <a:gd name="connsiteY4" fmla="*/ 52388 h 1771650"/>
              <a:gd name="connsiteX0" fmla="*/ 582299 w 678625"/>
              <a:gd name="connsiteY0" fmla="*/ 1771650 h 1771650"/>
              <a:gd name="connsiteX1" fmla="*/ 639449 w 678625"/>
              <a:gd name="connsiteY1" fmla="*/ 1038225 h 1771650"/>
              <a:gd name="connsiteX2" fmla="*/ 67949 w 678625"/>
              <a:gd name="connsiteY2" fmla="*/ 561975 h 1771650"/>
              <a:gd name="connsiteX3" fmla="*/ 10799 w 678625"/>
              <a:gd name="connsiteY3" fmla="*/ 0 h 1771650"/>
              <a:gd name="connsiteX0" fmla="*/ 681038 w 777364"/>
              <a:gd name="connsiteY0" fmla="*/ 1771650 h 1771650"/>
              <a:gd name="connsiteX1" fmla="*/ 738188 w 777364"/>
              <a:gd name="connsiteY1" fmla="*/ 1038225 h 1771650"/>
              <a:gd name="connsiteX2" fmla="*/ 166688 w 777364"/>
              <a:gd name="connsiteY2" fmla="*/ 561975 h 1771650"/>
              <a:gd name="connsiteX3" fmla="*/ 0 w 777364"/>
              <a:gd name="connsiteY3" fmla="*/ 0 h 1771650"/>
              <a:gd name="connsiteX0" fmla="*/ 681915 w 778241"/>
              <a:gd name="connsiteY0" fmla="*/ 1771650 h 1771650"/>
              <a:gd name="connsiteX1" fmla="*/ 739065 w 778241"/>
              <a:gd name="connsiteY1" fmla="*/ 1038225 h 1771650"/>
              <a:gd name="connsiteX2" fmla="*/ 167565 w 778241"/>
              <a:gd name="connsiteY2" fmla="*/ 561975 h 1771650"/>
              <a:gd name="connsiteX3" fmla="*/ 877 w 778241"/>
              <a:gd name="connsiteY3" fmla="*/ 0 h 1771650"/>
              <a:gd name="connsiteX0" fmla="*/ 623905 w 720231"/>
              <a:gd name="connsiteY0" fmla="*/ 1771650 h 1771650"/>
              <a:gd name="connsiteX1" fmla="*/ 681055 w 720231"/>
              <a:gd name="connsiteY1" fmla="*/ 1038225 h 1771650"/>
              <a:gd name="connsiteX2" fmla="*/ 109555 w 720231"/>
              <a:gd name="connsiteY2" fmla="*/ 561975 h 1771650"/>
              <a:gd name="connsiteX3" fmla="*/ 17 w 720231"/>
              <a:gd name="connsiteY3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0231" h="1771650">
                <a:moveTo>
                  <a:pt x="623905" y="1771650"/>
                </a:moveTo>
                <a:cubicBezTo>
                  <a:pt x="695342" y="1505743"/>
                  <a:pt x="766780" y="1239837"/>
                  <a:pt x="681055" y="1038225"/>
                </a:cubicBezTo>
                <a:cubicBezTo>
                  <a:pt x="595330" y="836613"/>
                  <a:pt x="223061" y="735013"/>
                  <a:pt x="109555" y="561975"/>
                </a:cubicBezTo>
                <a:cubicBezTo>
                  <a:pt x="-3951" y="388938"/>
                  <a:pt x="17" y="0"/>
                  <a:pt x="17" y="0"/>
                </a:cubicBezTo>
              </a:path>
            </a:pathLst>
          </a:custGeom>
          <a:noFill/>
          <a:ln w="9525">
            <a:solidFill>
              <a:srgbClr val="00FFEC"/>
            </a:solidFill>
            <a:prstDash val="lgDash"/>
          </a:ln>
          <a:effectLst>
            <a:glow rad="101600">
              <a:schemeClr val="tx1">
                <a:alpha val="8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520"/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91AFAB62-1419-667C-142A-9E52769DEAF7}"/>
              </a:ext>
            </a:extLst>
          </p:cNvPr>
          <p:cNvSpPr/>
          <p:nvPr/>
        </p:nvSpPr>
        <p:spPr>
          <a:xfrm>
            <a:off x="5132521" y="3395210"/>
            <a:ext cx="1052599" cy="1790123"/>
          </a:xfrm>
          <a:custGeom>
            <a:avLst/>
            <a:gdLst>
              <a:gd name="connsiteX0" fmla="*/ 0 w 942109"/>
              <a:gd name="connsiteY0" fmla="*/ 1542473 h 1542473"/>
              <a:gd name="connsiteX1" fmla="*/ 544945 w 942109"/>
              <a:gd name="connsiteY1" fmla="*/ 951346 h 1542473"/>
              <a:gd name="connsiteX2" fmla="*/ 406400 w 942109"/>
              <a:gd name="connsiteY2" fmla="*/ 277091 h 1542473"/>
              <a:gd name="connsiteX3" fmla="*/ 942109 w 942109"/>
              <a:gd name="connsiteY3" fmla="*/ 0 h 1542473"/>
              <a:gd name="connsiteX4" fmla="*/ 942109 w 942109"/>
              <a:gd name="connsiteY4" fmla="*/ 0 h 1542473"/>
              <a:gd name="connsiteX5" fmla="*/ 942109 w 942109"/>
              <a:gd name="connsiteY5" fmla="*/ 0 h 1542473"/>
              <a:gd name="connsiteX0" fmla="*/ 0 w 1177059"/>
              <a:gd name="connsiteY0" fmla="*/ 1796473 h 1796473"/>
              <a:gd name="connsiteX1" fmla="*/ 779895 w 1177059"/>
              <a:gd name="connsiteY1" fmla="*/ 951346 h 1796473"/>
              <a:gd name="connsiteX2" fmla="*/ 641350 w 1177059"/>
              <a:gd name="connsiteY2" fmla="*/ 277091 h 1796473"/>
              <a:gd name="connsiteX3" fmla="*/ 1177059 w 1177059"/>
              <a:gd name="connsiteY3" fmla="*/ 0 h 1796473"/>
              <a:gd name="connsiteX4" fmla="*/ 1177059 w 1177059"/>
              <a:gd name="connsiteY4" fmla="*/ 0 h 1796473"/>
              <a:gd name="connsiteX5" fmla="*/ 1177059 w 1177059"/>
              <a:gd name="connsiteY5" fmla="*/ 0 h 1796473"/>
              <a:gd name="connsiteX0" fmla="*/ 0 w 1177059"/>
              <a:gd name="connsiteY0" fmla="*/ 1796473 h 1796473"/>
              <a:gd name="connsiteX1" fmla="*/ 722745 w 1177059"/>
              <a:gd name="connsiteY1" fmla="*/ 1205346 h 1796473"/>
              <a:gd name="connsiteX2" fmla="*/ 641350 w 1177059"/>
              <a:gd name="connsiteY2" fmla="*/ 277091 h 1796473"/>
              <a:gd name="connsiteX3" fmla="*/ 1177059 w 1177059"/>
              <a:gd name="connsiteY3" fmla="*/ 0 h 1796473"/>
              <a:gd name="connsiteX4" fmla="*/ 1177059 w 1177059"/>
              <a:gd name="connsiteY4" fmla="*/ 0 h 1796473"/>
              <a:gd name="connsiteX5" fmla="*/ 1177059 w 1177059"/>
              <a:gd name="connsiteY5" fmla="*/ 0 h 1796473"/>
              <a:gd name="connsiteX0" fmla="*/ 0 w 1177059"/>
              <a:gd name="connsiteY0" fmla="*/ 1796473 h 1796473"/>
              <a:gd name="connsiteX1" fmla="*/ 722745 w 1177059"/>
              <a:gd name="connsiteY1" fmla="*/ 1205346 h 1796473"/>
              <a:gd name="connsiteX2" fmla="*/ 603250 w 1177059"/>
              <a:gd name="connsiteY2" fmla="*/ 340591 h 1796473"/>
              <a:gd name="connsiteX3" fmla="*/ 1177059 w 1177059"/>
              <a:gd name="connsiteY3" fmla="*/ 0 h 1796473"/>
              <a:gd name="connsiteX4" fmla="*/ 1177059 w 1177059"/>
              <a:gd name="connsiteY4" fmla="*/ 0 h 1796473"/>
              <a:gd name="connsiteX5" fmla="*/ 1177059 w 1177059"/>
              <a:gd name="connsiteY5" fmla="*/ 0 h 1796473"/>
              <a:gd name="connsiteX0" fmla="*/ 0 w 1265959"/>
              <a:gd name="connsiteY0" fmla="*/ 1866323 h 1866323"/>
              <a:gd name="connsiteX1" fmla="*/ 811645 w 1265959"/>
              <a:gd name="connsiteY1" fmla="*/ 1205346 h 1866323"/>
              <a:gd name="connsiteX2" fmla="*/ 692150 w 1265959"/>
              <a:gd name="connsiteY2" fmla="*/ 340591 h 1866323"/>
              <a:gd name="connsiteX3" fmla="*/ 1265959 w 1265959"/>
              <a:gd name="connsiteY3" fmla="*/ 0 h 1866323"/>
              <a:gd name="connsiteX4" fmla="*/ 1265959 w 1265959"/>
              <a:gd name="connsiteY4" fmla="*/ 0 h 1866323"/>
              <a:gd name="connsiteX5" fmla="*/ 1265959 w 1265959"/>
              <a:gd name="connsiteY5" fmla="*/ 0 h 1866323"/>
              <a:gd name="connsiteX0" fmla="*/ 0 w 1075459"/>
              <a:gd name="connsiteY0" fmla="*/ 1782503 h 1782503"/>
              <a:gd name="connsiteX1" fmla="*/ 621145 w 1075459"/>
              <a:gd name="connsiteY1" fmla="*/ 1205346 h 1782503"/>
              <a:gd name="connsiteX2" fmla="*/ 501650 w 1075459"/>
              <a:gd name="connsiteY2" fmla="*/ 340591 h 1782503"/>
              <a:gd name="connsiteX3" fmla="*/ 1075459 w 1075459"/>
              <a:gd name="connsiteY3" fmla="*/ 0 h 1782503"/>
              <a:gd name="connsiteX4" fmla="*/ 1075459 w 1075459"/>
              <a:gd name="connsiteY4" fmla="*/ 0 h 1782503"/>
              <a:gd name="connsiteX5" fmla="*/ 1075459 w 1075459"/>
              <a:gd name="connsiteY5" fmla="*/ 0 h 1782503"/>
              <a:gd name="connsiteX0" fmla="*/ 0 w 1052599"/>
              <a:gd name="connsiteY0" fmla="*/ 1790123 h 1790123"/>
              <a:gd name="connsiteX1" fmla="*/ 598285 w 1052599"/>
              <a:gd name="connsiteY1" fmla="*/ 1205346 h 1790123"/>
              <a:gd name="connsiteX2" fmla="*/ 478790 w 1052599"/>
              <a:gd name="connsiteY2" fmla="*/ 340591 h 1790123"/>
              <a:gd name="connsiteX3" fmla="*/ 1052599 w 1052599"/>
              <a:gd name="connsiteY3" fmla="*/ 0 h 1790123"/>
              <a:gd name="connsiteX4" fmla="*/ 1052599 w 1052599"/>
              <a:gd name="connsiteY4" fmla="*/ 0 h 1790123"/>
              <a:gd name="connsiteX5" fmla="*/ 1052599 w 1052599"/>
              <a:gd name="connsiteY5" fmla="*/ 0 h 1790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52599" h="1790123">
                <a:moveTo>
                  <a:pt x="0" y="1790123"/>
                </a:moveTo>
                <a:cubicBezTo>
                  <a:pt x="238606" y="1600008"/>
                  <a:pt x="518487" y="1446935"/>
                  <a:pt x="598285" y="1205346"/>
                </a:cubicBezTo>
                <a:cubicBezTo>
                  <a:pt x="678083" y="963757"/>
                  <a:pt x="403071" y="541482"/>
                  <a:pt x="478790" y="340591"/>
                </a:cubicBezTo>
                <a:cubicBezTo>
                  <a:pt x="554509" y="139700"/>
                  <a:pt x="1052599" y="0"/>
                  <a:pt x="1052599" y="0"/>
                </a:cubicBezTo>
                <a:lnTo>
                  <a:pt x="1052599" y="0"/>
                </a:lnTo>
                <a:lnTo>
                  <a:pt x="1052599" y="0"/>
                </a:lnTo>
              </a:path>
            </a:pathLst>
          </a:custGeom>
          <a:noFill/>
          <a:ln w="9525">
            <a:solidFill>
              <a:srgbClr val="00FFEC"/>
            </a:solidFill>
            <a:prstDash val="lgDash"/>
          </a:ln>
          <a:effectLst>
            <a:glow rad="63500">
              <a:schemeClr val="tx1">
                <a:alpha val="8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52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090BADA-A00C-6B7F-0227-47FAB8D9CFF3}"/>
              </a:ext>
            </a:extLst>
          </p:cNvPr>
          <p:cNvSpPr/>
          <p:nvPr/>
        </p:nvSpPr>
        <p:spPr>
          <a:xfrm>
            <a:off x="5043896" y="2773261"/>
            <a:ext cx="1208800" cy="461624"/>
          </a:xfrm>
          <a:prstGeom prst="rect">
            <a:avLst/>
          </a:prstGeom>
          <a:noFill/>
          <a:ln>
            <a:noFill/>
          </a:ln>
          <a:effectLst>
            <a:glow rad="419100">
              <a:schemeClr val="tx1"/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ko-KR" sz="1600" b="1" i="1" dirty="0">
                <a:ln w="19050">
                  <a:noFill/>
                </a:ln>
                <a:solidFill>
                  <a:srgbClr val="00FFEC"/>
                </a:solidFill>
                <a:effectLst>
                  <a:glow rad="228600">
                    <a:schemeClr val="tx1"/>
                  </a:glow>
                </a:effectLst>
                <a:latin typeface="Arial Nova" panose="020B0504020202020204" pitchFamily="34" charset="0"/>
              </a:rPr>
              <a:t>WiFi sensor</a:t>
            </a:r>
            <a:endParaRPr lang="ko-KR" altLang="en-US" sz="1600" b="1" i="1" dirty="0">
              <a:ln w="19050">
                <a:noFill/>
              </a:ln>
              <a:solidFill>
                <a:srgbClr val="00FFEC"/>
              </a:solidFill>
              <a:effectLst>
                <a:glow rad="228600">
                  <a:schemeClr val="tx1"/>
                </a:glow>
              </a:effectLst>
              <a:latin typeface="Arial Nova" panose="020B050402020202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846C155-E85F-E83E-9EC8-87F45531C7A2}"/>
              </a:ext>
            </a:extLst>
          </p:cNvPr>
          <p:cNvSpPr/>
          <p:nvPr/>
        </p:nvSpPr>
        <p:spPr>
          <a:xfrm>
            <a:off x="6143163" y="5389604"/>
            <a:ext cx="1185482" cy="461624"/>
          </a:xfrm>
          <a:prstGeom prst="rect">
            <a:avLst/>
          </a:prstGeom>
          <a:noFill/>
          <a:ln>
            <a:noFill/>
          </a:ln>
          <a:effectLst>
            <a:glow rad="419100">
              <a:schemeClr val="tx1"/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ko-KR" sz="1200" b="1" i="1" dirty="0" err="1">
                <a:ln w="19050">
                  <a:noFill/>
                </a:ln>
                <a:solidFill>
                  <a:srgbClr val="00FFEC"/>
                </a:solidFill>
                <a:effectLst>
                  <a:glow rad="228600">
                    <a:schemeClr val="tx1"/>
                  </a:glow>
                </a:effectLst>
                <a:latin typeface="Arial Nova" panose="020B0504020202020204" pitchFamily="34" charset="0"/>
              </a:rPr>
              <a:t>WiFi</a:t>
            </a:r>
            <a:r>
              <a:rPr lang="en-US" altLang="ko-KR" sz="1200" b="1" i="1" dirty="0">
                <a:ln w="19050">
                  <a:noFill/>
                </a:ln>
                <a:solidFill>
                  <a:srgbClr val="00FFEC"/>
                </a:solidFill>
                <a:effectLst>
                  <a:glow rad="228600">
                    <a:schemeClr val="tx1"/>
                  </a:glow>
                </a:effectLst>
                <a:latin typeface="Arial Nova" panose="020B0504020202020204" pitchFamily="34" charset="0"/>
              </a:rPr>
              <a:t> enabled</a:t>
            </a:r>
            <a:br>
              <a:rPr lang="en-US" altLang="ko-KR" sz="1200" b="1" i="1" dirty="0">
                <a:ln w="19050">
                  <a:noFill/>
                </a:ln>
                <a:solidFill>
                  <a:srgbClr val="00FFEC"/>
                </a:solidFill>
                <a:effectLst>
                  <a:glow rad="228600">
                    <a:schemeClr val="tx1"/>
                  </a:glow>
                </a:effectLst>
                <a:latin typeface="Arial Nova" panose="020B0504020202020204" pitchFamily="34" charset="0"/>
              </a:rPr>
            </a:br>
            <a:r>
              <a:rPr lang="en-US" altLang="ko-KR" sz="1200" b="1" i="1" dirty="0">
                <a:ln w="19050">
                  <a:noFill/>
                </a:ln>
                <a:solidFill>
                  <a:srgbClr val="00FFEC"/>
                </a:solidFill>
                <a:effectLst>
                  <a:glow rad="228600">
                    <a:schemeClr val="tx1"/>
                  </a:glow>
                </a:effectLst>
                <a:latin typeface="Arial Nova" panose="020B0504020202020204" pitchFamily="34" charset="0"/>
              </a:rPr>
              <a:t>device</a:t>
            </a:r>
            <a:endParaRPr lang="ko-KR" altLang="en-US" sz="1200" b="1" i="1" dirty="0">
              <a:ln w="19050">
                <a:noFill/>
              </a:ln>
              <a:solidFill>
                <a:srgbClr val="00FFEC"/>
              </a:solidFill>
              <a:effectLst>
                <a:glow rad="228600">
                  <a:schemeClr val="tx1"/>
                </a:glow>
              </a:effectLst>
              <a:latin typeface="Arial Nova" panose="020B0504020202020204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DB9BCD0-D7CA-5904-E9D1-773B684876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88" b="99756" l="1429" r="98036">
                        <a14:foregroundMark x1="38036" y1="9024" x2="38036" y2="9024"/>
                        <a14:foregroundMark x1="6250" y1="30976" x2="6250" y2="30976"/>
                        <a14:foregroundMark x1="1429" y1="35366" x2="1429" y2="35366"/>
                        <a14:foregroundMark x1="53036" y1="488" x2="53036" y2="488"/>
                        <a14:foregroundMark x1="91071" y1="30488" x2="91071" y2="30488"/>
                        <a14:foregroundMark x1="94286" y1="35366" x2="94286" y2="35366"/>
                        <a14:foregroundMark x1="98036" y1="35366" x2="98036" y2="35366"/>
                        <a14:foregroundMark x1="77500" y1="44390" x2="77500" y2="44390"/>
                        <a14:foregroundMark x1="60536" y1="63415" x2="60536" y2="63415"/>
                        <a14:foregroundMark x1="52679" y1="89268" x2="52679" y2="89268"/>
                        <a14:foregroundMark x1="53393" y1="95854" x2="53393" y2="95854"/>
                        <a14:foregroundMark x1="51071" y1="99756" x2="51071" y2="9975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55682" y="4923759"/>
            <a:ext cx="185229" cy="135614"/>
          </a:xfrm>
          <a:prstGeom prst="rect">
            <a:avLst/>
          </a:prstGeom>
          <a:effectLst>
            <a:glow rad="63500">
              <a:schemeClr val="tx1"/>
            </a:glow>
          </a:effec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88206A3-91D4-D136-71E5-B81E28E385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125" b="99219" l="9961" r="89844">
                        <a14:foregroundMark x1="41797" y1="13867" x2="41797" y2="13867"/>
                        <a14:foregroundMark x1="45313" y1="9180" x2="45313" y2="9180"/>
                        <a14:foregroundMark x1="47656" y1="3320" x2="47656" y2="3320"/>
                        <a14:foregroundMark x1="63672" y1="42383" x2="63672" y2="42383"/>
                        <a14:foregroundMark x1="73047" y1="52344" x2="73047" y2="52344"/>
                        <a14:foregroundMark x1="78320" y1="57813" x2="78320" y2="57813"/>
                        <a14:foregroundMark x1="82031" y1="68164" x2="82031" y2="68164"/>
                        <a14:foregroundMark x1="63281" y1="94531" x2="63281" y2="94531"/>
                        <a14:foregroundMark x1="40039" y1="96094" x2="40039" y2="96094"/>
                        <a14:foregroundMark x1="39063" y1="99219" x2="39063" y2="9921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40743" y="5259854"/>
            <a:ext cx="461624" cy="461624"/>
          </a:xfrm>
          <a:prstGeom prst="rect">
            <a:avLst/>
          </a:prstGeom>
          <a:effectLst>
            <a:glow rad="127000">
              <a:schemeClr val="tx1"/>
            </a:glow>
          </a:effectLst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750DED4-BBE0-0025-5282-F301201A5D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125" b="99219" l="9961" r="89844">
                        <a14:foregroundMark x1="41797" y1="13867" x2="41797" y2="13867"/>
                        <a14:foregroundMark x1="45313" y1="9180" x2="45313" y2="9180"/>
                        <a14:foregroundMark x1="47656" y1="3320" x2="47656" y2="3320"/>
                        <a14:foregroundMark x1="63672" y1="42383" x2="63672" y2="42383"/>
                        <a14:foregroundMark x1="73047" y1="52344" x2="73047" y2="52344"/>
                        <a14:foregroundMark x1="78320" y1="57813" x2="78320" y2="57813"/>
                        <a14:foregroundMark x1="82031" y1="68164" x2="82031" y2="68164"/>
                        <a14:foregroundMark x1="63281" y1="94531" x2="63281" y2="94531"/>
                        <a14:foregroundMark x1="40039" y1="96094" x2="40039" y2="96094"/>
                        <a14:foregroundMark x1="39063" y1="99219" x2="39063" y2="9921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87267" y="5411069"/>
            <a:ext cx="461624" cy="461624"/>
          </a:xfrm>
          <a:prstGeom prst="rect">
            <a:avLst/>
          </a:prstGeom>
          <a:effectLst>
            <a:glow rad="127000">
              <a:schemeClr val="tx1"/>
            </a:glow>
          </a:effec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7668DA4-3E85-EA94-E165-1EB5AEC996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125" b="99219" l="9961" r="89844">
                        <a14:foregroundMark x1="41797" y1="13867" x2="41797" y2="13867"/>
                        <a14:foregroundMark x1="45313" y1="9180" x2="45313" y2="9180"/>
                        <a14:foregroundMark x1="47656" y1="3320" x2="47656" y2="3320"/>
                        <a14:foregroundMark x1="63672" y1="42383" x2="63672" y2="42383"/>
                        <a14:foregroundMark x1="73047" y1="52344" x2="73047" y2="52344"/>
                        <a14:foregroundMark x1="78320" y1="57813" x2="78320" y2="57813"/>
                        <a14:foregroundMark x1="82031" y1="68164" x2="82031" y2="68164"/>
                        <a14:foregroundMark x1="63281" y1="94531" x2="63281" y2="94531"/>
                        <a14:foregroundMark x1="40039" y1="96094" x2="40039" y2="96094"/>
                        <a14:foregroundMark x1="39063" y1="99219" x2="39063" y2="9921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59141" y="5362473"/>
            <a:ext cx="461624" cy="461624"/>
          </a:xfrm>
          <a:prstGeom prst="rect">
            <a:avLst/>
          </a:prstGeom>
          <a:effectLst>
            <a:glow rad="127000">
              <a:schemeClr val="tx1"/>
            </a:glow>
          </a:effectLst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84724E0-608D-FBC0-018F-A795A44FD7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125" b="99219" l="9961" r="89844">
                        <a14:foregroundMark x1="41797" y1="13867" x2="41797" y2="13867"/>
                        <a14:foregroundMark x1="45313" y1="9180" x2="45313" y2="9180"/>
                        <a14:foregroundMark x1="47656" y1="3320" x2="47656" y2="3320"/>
                        <a14:foregroundMark x1="63672" y1="42383" x2="63672" y2="42383"/>
                        <a14:foregroundMark x1="73047" y1="52344" x2="73047" y2="52344"/>
                        <a14:foregroundMark x1="78320" y1="57813" x2="78320" y2="57813"/>
                        <a14:foregroundMark x1="82031" y1="68164" x2="82031" y2="68164"/>
                        <a14:foregroundMark x1="63281" y1="94531" x2="63281" y2="94531"/>
                        <a14:foregroundMark x1="40039" y1="96094" x2="40039" y2="96094"/>
                        <a14:foregroundMark x1="39063" y1="99219" x2="39063" y2="9921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04074" y="5348992"/>
            <a:ext cx="461624" cy="461624"/>
          </a:xfrm>
          <a:prstGeom prst="rect">
            <a:avLst/>
          </a:prstGeom>
          <a:effectLst>
            <a:glow rad="127000">
              <a:schemeClr val="tx1"/>
            </a:glow>
          </a:effectLst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CDA24C8-7938-4118-56A8-751DEB9065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88" b="99756" l="1429" r="98036">
                        <a14:foregroundMark x1="38036" y1="9024" x2="38036" y2="9024"/>
                        <a14:foregroundMark x1="6250" y1="30976" x2="6250" y2="30976"/>
                        <a14:foregroundMark x1="1429" y1="35366" x2="1429" y2="35366"/>
                        <a14:foregroundMark x1="53036" y1="488" x2="53036" y2="488"/>
                        <a14:foregroundMark x1="91071" y1="30488" x2="91071" y2="30488"/>
                        <a14:foregroundMark x1="94286" y1="35366" x2="94286" y2="35366"/>
                        <a14:foregroundMark x1="98036" y1="35366" x2="98036" y2="35366"/>
                        <a14:foregroundMark x1="77500" y1="44390" x2="77500" y2="44390"/>
                        <a14:foregroundMark x1="60536" y1="63415" x2="60536" y2="63415"/>
                        <a14:foregroundMark x1="52679" y1="89268" x2="52679" y2="89268"/>
                        <a14:foregroundMark x1="53393" y1="95854" x2="53393" y2="95854"/>
                        <a14:foregroundMark x1="51071" y1="99756" x2="51071" y2="9975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48895" y="3655672"/>
            <a:ext cx="185229" cy="135614"/>
          </a:xfrm>
          <a:prstGeom prst="rect">
            <a:avLst/>
          </a:prstGeom>
          <a:effectLst>
            <a:glow rad="63500">
              <a:schemeClr val="tx1"/>
            </a:glow>
          </a:effectLst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70D775EA-9D88-3AF8-56BA-01F0E0B845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88" b="99756" l="1429" r="98036">
                        <a14:foregroundMark x1="38036" y1="9024" x2="38036" y2="9024"/>
                        <a14:foregroundMark x1="6250" y1="30976" x2="6250" y2="30976"/>
                        <a14:foregroundMark x1="1429" y1="35366" x2="1429" y2="35366"/>
                        <a14:foregroundMark x1="53036" y1="488" x2="53036" y2="488"/>
                        <a14:foregroundMark x1="91071" y1="30488" x2="91071" y2="30488"/>
                        <a14:foregroundMark x1="94286" y1="35366" x2="94286" y2="35366"/>
                        <a14:foregroundMark x1="98036" y1="35366" x2="98036" y2="35366"/>
                        <a14:foregroundMark x1="77500" y1="44390" x2="77500" y2="44390"/>
                        <a14:foregroundMark x1="60536" y1="63415" x2="60536" y2="63415"/>
                        <a14:foregroundMark x1="52679" y1="89268" x2="52679" y2="89268"/>
                        <a14:foregroundMark x1="53393" y1="95854" x2="53393" y2="95854"/>
                        <a14:foregroundMark x1="51071" y1="99756" x2="51071" y2="9975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62354" y="4217227"/>
            <a:ext cx="199534" cy="146088"/>
          </a:xfrm>
          <a:prstGeom prst="rect">
            <a:avLst/>
          </a:prstGeom>
          <a:effectLst>
            <a:glow rad="63500">
              <a:schemeClr val="tx1"/>
            </a:glow>
          </a:effectLst>
        </p:spPr>
      </p:pic>
      <p:pic>
        <p:nvPicPr>
          <p:cNvPr id="18" name="그림 17" descr="텍스트, 시계, 벡터그래픽, 표지판이(가) 표시된 사진&#10;&#10;자동 생성된 설명">
            <a:extLst>
              <a:ext uri="{FF2B5EF4-FFF2-40B4-BE49-F238E27FC236}">
                <a16:creationId xmlns:a16="http://schemas.microsoft.com/office/drawing/2014/main" id="{178246E6-7FA2-9030-EECA-18882A6AEFD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242328" y="2795109"/>
            <a:ext cx="523953" cy="430491"/>
          </a:xfrm>
          <a:prstGeom prst="rect">
            <a:avLst/>
          </a:prstGeom>
          <a:effectLst>
            <a:glow rad="127000">
              <a:schemeClr val="tx1"/>
            </a:glow>
          </a:effectLst>
        </p:spPr>
      </p:pic>
      <p:pic>
        <p:nvPicPr>
          <p:cNvPr id="19" name="그림 18" descr="텍스트, 시계, 벡터그래픽, 표지판이(가) 표시된 사진&#10;&#10;자동 생성된 설명">
            <a:extLst>
              <a:ext uri="{FF2B5EF4-FFF2-40B4-BE49-F238E27FC236}">
                <a16:creationId xmlns:a16="http://schemas.microsoft.com/office/drawing/2014/main" id="{146EF327-47B2-578A-9066-88B826836DA8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853509" y="4112337"/>
            <a:ext cx="346510" cy="284700"/>
          </a:xfrm>
          <a:prstGeom prst="rect">
            <a:avLst/>
          </a:prstGeom>
          <a:effectLst>
            <a:glow rad="127000">
              <a:schemeClr val="tx1">
                <a:alpha val="50000"/>
              </a:schemeClr>
            </a:glow>
          </a:effectLst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5C8E1D2-327E-8ED1-1ABE-A0027035BB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125" b="99219" l="9961" r="89844">
                        <a14:foregroundMark x1="41797" y1="13867" x2="41797" y2="13867"/>
                        <a14:foregroundMark x1="45313" y1="9180" x2="45313" y2="9180"/>
                        <a14:foregroundMark x1="47656" y1="3320" x2="47656" y2="3320"/>
                        <a14:foregroundMark x1="63672" y1="42383" x2="63672" y2="42383"/>
                        <a14:foregroundMark x1="73047" y1="52344" x2="73047" y2="52344"/>
                        <a14:foregroundMark x1="78320" y1="57813" x2="78320" y2="57813"/>
                        <a14:foregroundMark x1="82031" y1="68164" x2="82031" y2="68164"/>
                        <a14:foregroundMark x1="63281" y1="94531" x2="63281" y2="94531"/>
                        <a14:foregroundMark x1="40039" y1="96094" x2="40039" y2="96094"/>
                        <a14:foregroundMark x1="39063" y1="99219" x2="39063" y2="9921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59607" y="5411069"/>
            <a:ext cx="461624" cy="461624"/>
          </a:xfrm>
          <a:prstGeom prst="rect">
            <a:avLst/>
          </a:prstGeom>
          <a:effectLst>
            <a:glow rad="127000">
              <a:schemeClr val="tx1"/>
            </a:glow>
          </a:effectLst>
        </p:spPr>
      </p:pic>
      <p:pic>
        <p:nvPicPr>
          <p:cNvPr id="3" name="그림 2" descr="텍스트, 시계, 벡터그래픽, 표지판이(가) 표시된 사진&#10;&#10;자동 생성된 설명">
            <a:extLst>
              <a:ext uri="{FF2B5EF4-FFF2-40B4-BE49-F238E27FC236}">
                <a16:creationId xmlns:a16="http://schemas.microsoft.com/office/drawing/2014/main" id="{745F9EAE-4A75-B97E-EEAD-1480B8F51013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358257" y="4633597"/>
            <a:ext cx="183354" cy="150648"/>
          </a:xfrm>
          <a:prstGeom prst="rect">
            <a:avLst/>
          </a:prstGeom>
          <a:effectLst>
            <a:glow rad="63500">
              <a:schemeClr val="tx1">
                <a:alpha val="60000"/>
              </a:schemeClr>
            </a:glow>
          </a:effectLst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DB59C1C-DEBE-0711-09C1-EA02AD16B33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501655" y="7407105"/>
            <a:ext cx="10845771" cy="706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02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09938CC-0EAB-E6AB-E91C-3129813C8D53}"/>
              </a:ext>
            </a:extLst>
          </p:cNvPr>
          <p:cNvSpPr/>
          <p:nvPr/>
        </p:nvSpPr>
        <p:spPr>
          <a:xfrm>
            <a:off x="1595437" y="1427793"/>
            <a:ext cx="1737360" cy="31242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6F51A3A-0955-6F74-72B5-B3EB5838E0E9}"/>
              </a:ext>
            </a:extLst>
          </p:cNvPr>
          <p:cNvSpPr/>
          <p:nvPr/>
        </p:nvSpPr>
        <p:spPr>
          <a:xfrm>
            <a:off x="1473517" y="1202373"/>
            <a:ext cx="1737360" cy="31242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2A6F12B-8736-7F53-103A-FCFE18199DC7}"/>
              </a:ext>
            </a:extLst>
          </p:cNvPr>
          <p:cNvSpPr/>
          <p:nvPr/>
        </p:nvSpPr>
        <p:spPr>
          <a:xfrm>
            <a:off x="1351597" y="1014413"/>
            <a:ext cx="1737360" cy="3124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02558B7-A5FF-5FA4-DBB9-C2DBB3CF3F60}"/>
              </a:ext>
            </a:extLst>
          </p:cNvPr>
          <p:cNvCxnSpPr>
            <a:cxnSpLocks/>
            <a:endCxn id="11" idx="3"/>
          </p:cNvCxnSpPr>
          <p:nvPr/>
        </p:nvCxnSpPr>
        <p:spPr>
          <a:xfrm>
            <a:off x="2342197" y="1329210"/>
            <a:ext cx="0" cy="34480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81A76ED-89EB-25E2-9636-2ED25D7100E8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225993" y="1014413"/>
            <a:ext cx="317" cy="659603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DB070C2-2FC6-5775-35D5-68D1DA3CB978}"/>
              </a:ext>
            </a:extLst>
          </p:cNvPr>
          <p:cNvCxnSpPr>
            <a:cxnSpLocks/>
          </p:cNvCxnSpPr>
          <p:nvPr/>
        </p:nvCxnSpPr>
        <p:spPr>
          <a:xfrm flipH="1">
            <a:off x="2179798" y="1607817"/>
            <a:ext cx="206215" cy="0"/>
          </a:xfrm>
          <a:prstGeom prst="line">
            <a:avLst/>
          </a:prstGeom>
          <a:ln w="9525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1EC538F-5622-6696-E2A1-E1263AA65903}"/>
              </a:ext>
            </a:extLst>
          </p:cNvPr>
          <p:cNvCxnSpPr>
            <a:cxnSpLocks/>
          </p:cNvCxnSpPr>
          <p:nvPr/>
        </p:nvCxnSpPr>
        <p:spPr>
          <a:xfrm flipH="1">
            <a:off x="2203376" y="1586303"/>
            <a:ext cx="53813" cy="53655"/>
          </a:xfrm>
          <a:prstGeom prst="line">
            <a:avLst/>
          </a:prstGeom>
          <a:ln w="9525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0360F90-276D-AD15-2287-0BEF960097B3}"/>
              </a:ext>
            </a:extLst>
          </p:cNvPr>
          <p:cNvSpPr/>
          <p:nvPr/>
        </p:nvSpPr>
        <p:spPr>
          <a:xfrm>
            <a:off x="2226310" y="1625200"/>
            <a:ext cx="115887" cy="976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1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F9727C4-806B-1272-D0AF-C830A6B5D976}"/>
              </a:ext>
            </a:extLst>
          </p:cNvPr>
          <p:cNvCxnSpPr>
            <a:cxnSpLocks/>
          </p:cNvCxnSpPr>
          <p:nvPr/>
        </p:nvCxnSpPr>
        <p:spPr>
          <a:xfrm flipH="1">
            <a:off x="2315290" y="1586303"/>
            <a:ext cx="53813" cy="53655"/>
          </a:xfrm>
          <a:prstGeom prst="line">
            <a:avLst/>
          </a:prstGeom>
          <a:ln w="9525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5B3F35F-622E-7DD8-3E21-BD1137AC4F5C}"/>
              </a:ext>
            </a:extLst>
          </p:cNvPr>
          <p:cNvCxnSpPr>
            <a:cxnSpLocks/>
          </p:cNvCxnSpPr>
          <p:nvPr/>
        </p:nvCxnSpPr>
        <p:spPr>
          <a:xfrm>
            <a:off x="1351597" y="928688"/>
            <a:ext cx="1737360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BBF37D4-8530-8F5D-BEF4-678ACCD1A8C0}"/>
              </a:ext>
            </a:extLst>
          </p:cNvPr>
          <p:cNvSpPr/>
          <p:nvPr/>
        </p:nvSpPr>
        <p:spPr>
          <a:xfrm>
            <a:off x="2126141" y="870270"/>
            <a:ext cx="198600" cy="976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800" dirty="0"/>
              <a:t>10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93CA790E-CBF3-6DF8-CA14-D0DF593C5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21813" y="2898732"/>
            <a:ext cx="8217813" cy="387861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0CFBE50-0AAC-3B86-A87A-3B7AF82D9F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052" y="661614"/>
            <a:ext cx="6663351" cy="195668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0ACCCA6-833C-9487-3FC5-623DB4D6E916}"/>
              </a:ext>
            </a:extLst>
          </p:cNvPr>
          <p:cNvSpPr txBox="1"/>
          <p:nvPr/>
        </p:nvSpPr>
        <p:spPr>
          <a:xfrm>
            <a:off x="5495489" y="1644488"/>
            <a:ext cx="9302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i="1" dirty="0">
                <a:latin typeface="Arial Nova" panose="020B0504020202020204" pitchFamily="34" charset="0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Moves</a:t>
            </a:r>
            <a:endParaRPr lang="en-US" b="1" i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4B2B8E-70AB-AD0E-D657-9B63877B27DA}"/>
              </a:ext>
            </a:extLst>
          </p:cNvPr>
          <p:cNvSpPr txBox="1"/>
          <p:nvPr/>
        </p:nvSpPr>
        <p:spPr>
          <a:xfrm>
            <a:off x="8459029" y="1644488"/>
            <a:ext cx="9302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latin typeface="Arial Nova" panose="020B0504020202020204" pitchFamily="34" charset="0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Stays</a:t>
            </a:r>
            <a:endParaRPr lang="en-US" b="1" i="1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513B63A7-A16D-16D6-B7C2-C6AF98C7A5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6141" y="3886601"/>
            <a:ext cx="6663506" cy="1956986"/>
          </a:xfrm>
          <a:prstGeom prst="rect">
            <a:avLst/>
          </a:prstGeom>
        </p:spPr>
      </p:pic>
      <p:pic>
        <p:nvPicPr>
          <p:cNvPr id="21" name="그림 20" descr="텍스트, 도표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36B11-8158-0B48-2EB4-FD6B2F46C7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60064"/>
            <a:ext cx="12801600" cy="348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39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" name="표 67">
            <a:extLst>
              <a:ext uri="{FF2B5EF4-FFF2-40B4-BE49-F238E27FC236}">
                <a16:creationId xmlns:a16="http://schemas.microsoft.com/office/drawing/2014/main" id="{32F3B5C6-A575-6B97-631E-3ADA89B076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028515"/>
              </p:ext>
            </p:extLst>
          </p:nvPr>
        </p:nvGraphicFramePr>
        <p:xfrm>
          <a:off x="2604897" y="2682025"/>
          <a:ext cx="1254258" cy="1476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223">
                  <a:extLst>
                    <a:ext uri="{9D8B030D-6E8A-4147-A177-3AD203B41FA5}">
                      <a16:colId xmlns:a16="http://schemas.microsoft.com/office/drawing/2014/main" val="1045483893"/>
                    </a:ext>
                  </a:extLst>
                </a:gridCol>
                <a:gridCol w="502035">
                  <a:extLst>
                    <a:ext uri="{9D8B030D-6E8A-4147-A177-3AD203B41FA5}">
                      <a16:colId xmlns:a16="http://schemas.microsoft.com/office/drawing/2014/main" val="3550168671"/>
                    </a:ext>
                  </a:extLst>
                </a:gridCol>
              </a:tblGrid>
              <a:tr h="1476442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Arial Nova" panose="020B05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Arial Nova" panose="020B05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813350"/>
                  </a:ext>
                </a:extLst>
              </a:tr>
            </a:tbl>
          </a:graphicData>
        </a:graphic>
      </p:graphicFrame>
      <p:graphicFrame>
        <p:nvGraphicFramePr>
          <p:cNvPr id="69" name="표 68">
            <a:extLst>
              <a:ext uri="{FF2B5EF4-FFF2-40B4-BE49-F238E27FC236}">
                <a16:creationId xmlns:a16="http://schemas.microsoft.com/office/drawing/2014/main" id="{9CDE8D9A-2666-0C26-0F5D-F948A9745A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07238"/>
              </p:ext>
            </p:extLst>
          </p:nvPr>
        </p:nvGraphicFramePr>
        <p:xfrm>
          <a:off x="4335779" y="2682025"/>
          <a:ext cx="6257432" cy="1476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57432">
                  <a:extLst>
                    <a:ext uri="{9D8B030D-6E8A-4147-A177-3AD203B41FA5}">
                      <a16:colId xmlns:a16="http://schemas.microsoft.com/office/drawing/2014/main" val="1045483893"/>
                    </a:ext>
                  </a:extLst>
                </a:gridCol>
              </a:tblGrid>
              <a:tr h="1476442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Arial Nova" panose="020B05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813350"/>
                  </a:ext>
                </a:extLst>
              </a:tr>
            </a:tbl>
          </a:graphicData>
        </a:graphic>
      </p:graphicFrame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4E1CD63A-F58E-6C3A-3DAB-9DBAD956D797}"/>
              </a:ext>
            </a:extLst>
          </p:cNvPr>
          <p:cNvCxnSpPr>
            <a:cxnSpLocks/>
          </p:cNvCxnSpPr>
          <p:nvPr/>
        </p:nvCxnSpPr>
        <p:spPr>
          <a:xfrm>
            <a:off x="2647849" y="6774913"/>
            <a:ext cx="7922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9328BEC9-446C-36AC-0C38-34F1EB3265DD}"/>
              </a:ext>
            </a:extLst>
          </p:cNvPr>
          <p:cNvSpPr txBox="1"/>
          <p:nvPr/>
        </p:nvSpPr>
        <p:spPr>
          <a:xfrm>
            <a:off x="9552123" y="6795853"/>
            <a:ext cx="101835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Nova" panose="020B0504020202020204" pitchFamily="34" charset="0"/>
              </a:rPr>
              <a:t>Information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85B3C41B-39D9-5154-84CA-8C103B690496}"/>
              </a:ext>
            </a:extLst>
          </p:cNvPr>
          <p:cNvSpPr/>
          <p:nvPr/>
        </p:nvSpPr>
        <p:spPr>
          <a:xfrm>
            <a:off x="5956312" y="4984809"/>
            <a:ext cx="1254257" cy="11646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000" dirty="0">
              <a:latin typeface="Arial Nova" panose="020B0504020202020204" pitchFamily="34" charset="0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2DEE87C9-ED54-FF94-47B9-602A5F1A2B19}"/>
              </a:ext>
            </a:extLst>
          </p:cNvPr>
          <p:cNvSpPr/>
          <p:nvPr/>
        </p:nvSpPr>
        <p:spPr>
          <a:xfrm>
            <a:off x="7643017" y="4984809"/>
            <a:ext cx="1254257" cy="11646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000" dirty="0">
              <a:latin typeface="Arial Nova" panose="020B0504020202020204" pitchFamily="34" charset="0"/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2987EBD9-D963-2D24-3FC0-0CF7319E0D67}"/>
              </a:ext>
            </a:extLst>
          </p:cNvPr>
          <p:cNvSpPr/>
          <p:nvPr/>
        </p:nvSpPr>
        <p:spPr>
          <a:xfrm>
            <a:off x="9296213" y="4984809"/>
            <a:ext cx="1254257" cy="11646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000" dirty="0">
              <a:latin typeface="Arial Nova" panose="020B0504020202020204" pitchFamily="34" charset="0"/>
            </a:endParaRPr>
          </a:p>
        </p:txBody>
      </p:sp>
      <p:pic>
        <p:nvPicPr>
          <p:cNvPr id="117" name="Picture 2" descr="보행자  프리미엄 아이콘">
            <a:extLst>
              <a:ext uri="{FF2B5EF4-FFF2-40B4-BE49-F238E27FC236}">
                <a16:creationId xmlns:a16="http://schemas.microsoft.com/office/drawing/2014/main" id="{92D78A51-C230-E8BF-8E88-0CE9D11495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9330"/>
          <a:stretch/>
        </p:blipFill>
        <p:spPr bwMode="auto">
          <a:xfrm>
            <a:off x="3375424" y="3111539"/>
            <a:ext cx="397153" cy="434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8" name="Picture 4" descr="남자  프리미엄 아이콘">
            <a:extLst>
              <a:ext uri="{FF2B5EF4-FFF2-40B4-BE49-F238E27FC236}">
                <a16:creationId xmlns:a16="http://schemas.microsoft.com/office/drawing/2014/main" id="{958177AE-544C-1473-9B01-A7152DFE9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1685" y="2892853"/>
            <a:ext cx="397153" cy="397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9" name="Picture 2" descr="보행자  프리미엄 아이콘">
            <a:extLst>
              <a:ext uri="{FF2B5EF4-FFF2-40B4-BE49-F238E27FC236}">
                <a16:creationId xmlns:a16="http://schemas.microsoft.com/office/drawing/2014/main" id="{CFE07812-0FCB-54E6-AA7C-1E4074B61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674497" y="3610153"/>
            <a:ext cx="397153" cy="397153"/>
          </a:xfrm>
          <a:prstGeom prst="rect">
            <a:avLst/>
          </a:prstGeom>
          <a:noFill/>
        </p:spPr>
      </p:pic>
      <p:sp>
        <p:nvSpPr>
          <p:cNvPr id="120" name="타원 119">
            <a:extLst>
              <a:ext uri="{FF2B5EF4-FFF2-40B4-BE49-F238E27FC236}">
                <a16:creationId xmlns:a16="http://schemas.microsoft.com/office/drawing/2014/main" id="{760DB894-14CE-E614-FE3C-57469C19E625}"/>
              </a:ext>
            </a:extLst>
          </p:cNvPr>
          <p:cNvSpPr/>
          <p:nvPr/>
        </p:nvSpPr>
        <p:spPr>
          <a:xfrm>
            <a:off x="2844416" y="4159888"/>
            <a:ext cx="179180" cy="1791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2E3F6F05-3CF4-9E52-ECD5-B338A8A39A49}"/>
              </a:ext>
            </a:extLst>
          </p:cNvPr>
          <p:cNvSpPr/>
          <p:nvPr/>
        </p:nvSpPr>
        <p:spPr>
          <a:xfrm>
            <a:off x="3530718" y="4078458"/>
            <a:ext cx="179180" cy="1791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4" name="연결선: 구부러짐 123">
            <a:extLst>
              <a:ext uri="{FF2B5EF4-FFF2-40B4-BE49-F238E27FC236}">
                <a16:creationId xmlns:a16="http://schemas.microsoft.com/office/drawing/2014/main" id="{308F7937-6045-6796-D2D4-85434F48996A}"/>
              </a:ext>
            </a:extLst>
          </p:cNvPr>
          <p:cNvCxnSpPr>
            <a:cxnSpLocks/>
          </p:cNvCxnSpPr>
          <p:nvPr/>
        </p:nvCxnSpPr>
        <p:spPr>
          <a:xfrm flipV="1">
            <a:off x="6352008" y="5645421"/>
            <a:ext cx="499157" cy="42030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연결선: 구부러짐 124">
            <a:extLst>
              <a:ext uri="{FF2B5EF4-FFF2-40B4-BE49-F238E27FC236}">
                <a16:creationId xmlns:a16="http://schemas.microsoft.com/office/drawing/2014/main" id="{4972E56B-1CBD-5B05-79E6-550A7BC727F7}"/>
              </a:ext>
            </a:extLst>
          </p:cNvPr>
          <p:cNvCxnSpPr>
            <a:cxnSpLocks/>
          </p:cNvCxnSpPr>
          <p:nvPr/>
        </p:nvCxnSpPr>
        <p:spPr>
          <a:xfrm rot="16200000" flipV="1">
            <a:off x="6519595" y="5659990"/>
            <a:ext cx="332735" cy="53622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6" name="타원 125">
            <a:extLst>
              <a:ext uri="{FF2B5EF4-FFF2-40B4-BE49-F238E27FC236}">
                <a16:creationId xmlns:a16="http://schemas.microsoft.com/office/drawing/2014/main" id="{C1767656-C1EE-0B6B-2857-8F1C76B01E78}"/>
              </a:ext>
            </a:extLst>
          </p:cNvPr>
          <p:cNvSpPr/>
          <p:nvPr/>
        </p:nvSpPr>
        <p:spPr>
          <a:xfrm>
            <a:off x="2962242" y="5128301"/>
            <a:ext cx="163963" cy="17396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타원 126">
            <a:extLst>
              <a:ext uri="{FF2B5EF4-FFF2-40B4-BE49-F238E27FC236}">
                <a16:creationId xmlns:a16="http://schemas.microsoft.com/office/drawing/2014/main" id="{1EDB7BF6-FEC8-18F7-D8B8-1DA2E708DE30}"/>
              </a:ext>
            </a:extLst>
          </p:cNvPr>
          <p:cNvSpPr/>
          <p:nvPr/>
        </p:nvSpPr>
        <p:spPr>
          <a:xfrm>
            <a:off x="3467470" y="5416449"/>
            <a:ext cx="163963" cy="17396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타원 127">
            <a:extLst>
              <a:ext uri="{FF2B5EF4-FFF2-40B4-BE49-F238E27FC236}">
                <a16:creationId xmlns:a16="http://schemas.microsoft.com/office/drawing/2014/main" id="{FE19023D-E3A4-D546-FE4F-1BC22E45B79C}"/>
              </a:ext>
            </a:extLst>
          </p:cNvPr>
          <p:cNvSpPr/>
          <p:nvPr/>
        </p:nvSpPr>
        <p:spPr>
          <a:xfrm>
            <a:off x="2838016" y="5671117"/>
            <a:ext cx="163963" cy="17396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타원 128">
            <a:extLst>
              <a:ext uri="{FF2B5EF4-FFF2-40B4-BE49-F238E27FC236}">
                <a16:creationId xmlns:a16="http://schemas.microsoft.com/office/drawing/2014/main" id="{DE025375-00AC-0CE4-72EE-72B81C7F4BFE}"/>
              </a:ext>
            </a:extLst>
          </p:cNvPr>
          <p:cNvSpPr/>
          <p:nvPr/>
        </p:nvSpPr>
        <p:spPr>
          <a:xfrm>
            <a:off x="8435521" y="5416449"/>
            <a:ext cx="163963" cy="173966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타원 129">
            <a:extLst>
              <a:ext uri="{FF2B5EF4-FFF2-40B4-BE49-F238E27FC236}">
                <a16:creationId xmlns:a16="http://schemas.microsoft.com/office/drawing/2014/main" id="{4B3DF247-5BE3-EA09-92C1-1A6BED2EE2E1}"/>
              </a:ext>
            </a:extLst>
          </p:cNvPr>
          <p:cNvSpPr/>
          <p:nvPr/>
        </p:nvSpPr>
        <p:spPr>
          <a:xfrm>
            <a:off x="7831467" y="5671117"/>
            <a:ext cx="163963" cy="173966"/>
          </a:xfrm>
          <a:prstGeom prst="ellipse">
            <a:avLst/>
          </a:prstGeom>
          <a:solidFill>
            <a:srgbClr val="CDCD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1" name="연결선: 구부러짐 130">
            <a:extLst>
              <a:ext uri="{FF2B5EF4-FFF2-40B4-BE49-F238E27FC236}">
                <a16:creationId xmlns:a16="http://schemas.microsoft.com/office/drawing/2014/main" id="{40ACC0A1-838F-4A80-B93E-247ABF046FB5}"/>
              </a:ext>
            </a:extLst>
          </p:cNvPr>
          <p:cNvCxnSpPr>
            <a:cxnSpLocks/>
          </p:cNvCxnSpPr>
          <p:nvPr/>
        </p:nvCxnSpPr>
        <p:spPr>
          <a:xfrm flipV="1">
            <a:off x="7995430" y="5645421"/>
            <a:ext cx="499157" cy="42030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연결선: 구부러짐 131">
            <a:extLst>
              <a:ext uri="{FF2B5EF4-FFF2-40B4-BE49-F238E27FC236}">
                <a16:creationId xmlns:a16="http://schemas.microsoft.com/office/drawing/2014/main" id="{18591EB7-A06F-B3AA-13F2-1B50627CCE8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163017" y="5659990"/>
            <a:ext cx="332735" cy="53622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" name="타원 132">
            <a:extLst>
              <a:ext uri="{FF2B5EF4-FFF2-40B4-BE49-F238E27FC236}">
                <a16:creationId xmlns:a16="http://schemas.microsoft.com/office/drawing/2014/main" id="{434D8019-54E3-55AC-F5F5-A94219E7B2E9}"/>
              </a:ext>
            </a:extLst>
          </p:cNvPr>
          <p:cNvSpPr/>
          <p:nvPr/>
        </p:nvSpPr>
        <p:spPr>
          <a:xfrm>
            <a:off x="9619497" y="5128301"/>
            <a:ext cx="163963" cy="17396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AF8D5937-8099-B520-9195-52CE85E7E9AE}"/>
              </a:ext>
            </a:extLst>
          </p:cNvPr>
          <p:cNvSpPr/>
          <p:nvPr/>
        </p:nvSpPr>
        <p:spPr>
          <a:xfrm>
            <a:off x="10099325" y="5416449"/>
            <a:ext cx="163963" cy="173966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0A9F147D-6121-C1C4-DCCE-C9E3207AC693}"/>
              </a:ext>
            </a:extLst>
          </p:cNvPr>
          <p:cNvSpPr/>
          <p:nvPr/>
        </p:nvSpPr>
        <p:spPr>
          <a:xfrm>
            <a:off x="9495271" y="5671117"/>
            <a:ext cx="163963" cy="173966"/>
          </a:xfrm>
          <a:prstGeom prst="ellipse">
            <a:avLst/>
          </a:prstGeom>
          <a:solidFill>
            <a:srgbClr val="CDCD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6" name="연결선: 구부러짐 135">
            <a:extLst>
              <a:ext uri="{FF2B5EF4-FFF2-40B4-BE49-F238E27FC236}">
                <a16:creationId xmlns:a16="http://schemas.microsoft.com/office/drawing/2014/main" id="{6D66053F-C312-B1FD-E295-758F24B755C0}"/>
              </a:ext>
            </a:extLst>
          </p:cNvPr>
          <p:cNvCxnSpPr>
            <a:cxnSpLocks/>
          </p:cNvCxnSpPr>
          <p:nvPr/>
        </p:nvCxnSpPr>
        <p:spPr>
          <a:xfrm flipV="1">
            <a:off x="9659234" y="5645421"/>
            <a:ext cx="499157" cy="42030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연결선: 구부러짐 136">
            <a:extLst>
              <a:ext uri="{FF2B5EF4-FFF2-40B4-BE49-F238E27FC236}">
                <a16:creationId xmlns:a16="http://schemas.microsoft.com/office/drawing/2014/main" id="{15653D1B-50B4-44A3-F8D1-5134590B5E9E}"/>
              </a:ext>
            </a:extLst>
          </p:cNvPr>
          <p:cNvCxnSpPr>
            <a:cxnSpLocks/>
          </p:cNvCxnSpPr>
          <p:nvPr/>
        </p:nvCxnSpPr>
        <p:spPr>
          <a:xfrm rot="16200000" flipV="1">
            <a:off x="9826821" y="5659990"/>
            <a:ext cx="332735" cy="53622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C23AC3D6-507C-3B6B-7BFC-6415605DCD41}"/>
              </a:ext>
            </a:extLst>
          </p:cNvPr>
          <p:cNvSpPr txBox="1"/>
          <p:nvPr/>
        </p:nvSpPr>
        <p:spPr>
          <a:xfrm>
            <a:off x="9438984" y="5274228"/>
            <a:ext cx="5232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 Nova" panose="020B0504020202020204" pitchFamily="34" charset="0"/>
              </a:rPr>
              <a:t>Stay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E14BA0E8-8C40-6E2E-1AFA-E6B8A41C0349}"/>
              </a:ext>
            </a:extLst>
          </p:cNvPr>
          <p:cNvSpPr txBox="1"/>
          <p:nvPr/>
        </p:nvSpPr>
        <p:spPr>
          <a:xfrm>
            <a:off x="4264667" y="4646255"/>
            <a:ext cx="1326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 Nova" panose="020B0504020202020204" pitchFamily="34" charset="0"/>
              </a:rPr>
              <a:t>Count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462E3480-59A1-9C32-9D48-C3209FB5DBFD}"/>
              </a:ext>
            </a:extLst>
          </p:cNvPr>
          <p:cNvSpPr txBox="1"/>
          <p:nvPr/>
        </p:nvSpPr>
        <p:spPr>
          <a:xfrm>
            <a:off x="2574814" y="4646255"/>
            <a:ext cx="1326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 Nova" panose="020B0504020202020204" pitchFamily="34" charset="0"/>
              </a:rPr>
              <a:t>Location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38DF8FC8-074E-A6D1-B970-4FEE16E9149E}"/>
              </a:ext>
            </a:extLst>
          </p:cNvPr>
          <p:cNvSpPr txBox="1"/>
          <p:nvPr/>
        </p:nvSpPr>
        <p:spPr>
          <a:xfrm>
            <a:off x="5935613" y="4646255"/>
            <a:ext cx="1326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 Nova" panose="020B0504020202020204" pitchFamily="34" charset="0"/>
              </a:rPr>
              <a:t>Track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4895F971-E9A1-9F32-4196-5273E56BE020}"/>
              </a:ext>
            </a:extLst>
          </p:cNvPr>
          <p:cNvSpPr txBox="1"/>
          <p:nvPr/>
        </p:nvSpPr>
        <p:spPr>
          <a:xfrm>
            <a:off x="7608783" y="4646255"/>
            <a:ext cx="1326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 Nova" panose="020B0504020202020204" pitchFamily="34" charset="0"/>
              </a:rPr>
              <a:t>Identify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82E5CBED-B14C-D1B4-E558-D56CFDE3BDD3}"/>
              </a:ext>
            </a:extLst>
          </p:cNvPr>
          <p:cNvSpPr txBox="1"/>
          <p:nvPr/>
        </p:nvSpPr>
        <p:spPr>
          <a:xfrm>
            <a:off x="9244211" y="4646255"/>
            <a:ext cx="1326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 Nova" panose="020B0504020202020204" pitchFamily="34" charset="0"/>
              </a:rPr>
              <a:t>Activities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121E3A62-7B5E-C67A-07C1-92CC4201322A}"/>
              </a:ext>
            </a:extLst>
          </p:cNvPr>
          <p:cNvSpPr txBox="1"/>
          <p:nvPr/>
        </p:nvSpPr>
        <p:spPr>
          <a:xfrm>
            <a:off x="2509162" y="2322873"/>
            <a:ext cx="14457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 Nova" panose="020B0504020202020204" pitchFamily="34" charset="0"/>
              </a:rPr>
              <a:t>Ground truth</a:t>
            </a:r>
          </a:p>
        </p:txBody>
      </p:sp>
      <p:sp>
        <p:nvSpPr>
          <p:cNvPr id="145" name="타원 144">
            <a:extLst>
              <a:ext uri="{FF2B5EF4-FFF2-40B4-BE49-F238E27FC236}">
                <a16:creationId xmlns:a16="http://schemas.microsoft.com/office/drawing/2014/main" id="{2FA35BAA-CAC7-3082-7E64-5C717C2D496B}"/>
              </a:ext>
            </a:extLst>
          </p:cNvPr>
          <p:cNvSpPr/>
          <p:nvPr/>
        </p:nvSpPr>
        <p:spPr>
          <a:xfrm>
            <a:off x="7979290" y="5128301"/>
            <a:ext cx="163963" cy="17396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0" name="그룹 169">
            <a:extLst>
              <a:ext uri="{FF2B5EF4-FFF2-40B4-BE49-F238E27FC236}">
                <a16:creationId xmlns:a16="http://schemas.microsoft.com/office/drawing/2014/main" id="{5AEA1A6D-6845-7F5F-E7A5-9D0A019496CD}"/>
              </a:ext>
            </a:extLst>
          </p:cNvPr>
          <p:cNvGrpSpPr/>
          <p:nvPr/>
        </p:nvGrpSpPr>
        <p:grpSpPr>
          <a:xfrm>
            <a:off x="6186058" y="5128301"/>
            <a:ext cx="768017" cy="716782"/>
            <a:chOff x="6664338" y="5129031"/>
            <a:chExt cx="768017" cy="716782"/>
          </a:xfrm>
        </p:grpSpPr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28A3DF4C-9CE7-2470-9FF2-4289CE0E7A01}"/>
                </a:ext>
              </a:extLst>
            </p:cNvPr>
            <p:cNvSpPr/>
            <p:nvPr/>
          </p:nvSpPr>
          <p:spPr>
            <a:xfrm>
              <a:off x="7268392" y="5417179"/>
              <a:ext cx="163963" cy="17396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0BEB7920-C6B5-C061-8486-9EAEAE77FB84}"/>
                </a:ext>
              </a:extLst>
            </p:cNvPr>
            <p:cNvSpPr/>
            <p:nvPr/>
          </p:nvSpPr>
          <p:spPr>
            <a:xfrm>
              <a:off x="6664338" y="5671847"/>
              <a:ext cx="163963" cy="17396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66D6E0CD-971A-6EBE-9AFC-A29F093E87CA}"/>
                </a:ext>
              </a:extLst>
            </p:cNvPr>
            <p:cNvSpPr/>
            <p:nvPr/>
          </p:nvSpPr>
          <p:spPr>
            <a:xfrm>
              <a:off x="6814148" y="5129031"/>
              <a:ext cx="163963" cy="17396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7" name="연결선: 구부러짐 146">
            <a:extLst>
              <a:ext uri="{FF2B5EF4-FFF2-40B4-BE49-F238E27FC236}">
                <a16:creationId xmlns:a16="http://schemas.microsoft.com/office/drawing/2014/main" id="{9CDDB19F-CBEC-24AE-FAB5-29E89A24766B}"/>
              </a:ext>
            </a:extLst>
          </p:cNvPr>
          <p:cNvCxnSpPr>
            <a:cxnSpLocks/>
          </p:cNvCxnSpPr>
          <p:nvPr/>
        </p:nvCxnSpPr>
        <p:spPr>
          <a:xfrm flipV="1">
            <a:off x="3095550" y="3602899"/>
            <a:ext cx="457200" cy="35899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연결선: 구부러짐 147">
            <a:extLst>
              <a:ext uri="{FF2B5EF4-FFF2-40B4-BE49-F238E27FC236}">
                <a16:creationId xmlns:a16="http://schemas.microsoft.com/office/drawing/2014/main" id="{A096E202-BADE-2BBC-D804-BBD8065DB636}"/>
              </a:ext>
            </a:extLst>
          </p:cNvPr>
          <p:cNvCxnSpPr>
            <a:cxnSpLocks/>
          </p:cNvCxnSpPr>
          <p:nvPr/>
        </p:nvCxnSpPr>
        <p:spPr>
          <a:xfrm rot="16200000" flipV="1">
            <a:off x="3199492" y="3637580"/>
            <a:ext cx="274320" cy="45720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2F20BEFA-0694-40BB-5268-37ECC3880E7F}"/>
              </a:ext>
            </a:extLst>
          </p:cNvPr>
          <p:cNvSpPr txBox="1"/>
          <p:nvPr/>
        </p:nvSpPr>
        <p:spPr>
          <a:xfrm>
            <a:off x="2574814" y="6164013"/>
            <a:ext cx="152932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Nova" panose="020B0504020202020204" pitchFamily="34" charset="0"/>
              </a:rPr>
              <a:t>WiFi signal-based localization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F92E8EB-4494-D543-1684-DD983021121E}"/>
              </a:ext>
            </a:extLst>
          </p:cNvPr>
          <p:cNvSpPr txBox="1"/>
          <p:nvPr/>
        </p:nvSpPr>
        <p:spPr>
          <a:xfrm>
            <a:off x="4313045" y="6164013"/>
            <a:ext cx="13491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Nova" panose="020B0504020202020204" pitchFamily="34" charset="0"/>
              </a:rPr>
              <a:t># of unique MAC addresses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8F0A278-1DB3-FE37-CD26-8B49F0ED91A6}"/>
              </a:ext>
            </a:extLst>
          </p:cNvPr>
          <p:cNvSpPr txBox="1"/>
          <p:nvPr/>
        </p:nvSpPr>
        <p:spPr>
          <a:xfrm>
            <a:off x="5956311" y="6164013"/>
            <a:ext cx="13491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Nova" panose="020B0504020202020204" pitchFamily="34" charset="0"/>
              </a:rPr>
              <a:t>Timestamp + location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4FD61705-05C6-72D4-160E-686C8E525C94}"/>
              </a:ext>
            </a:extLst>
          </p:cNvPr>
          <p:cNvSpPr txBox="1"/>
          <p:nvPr/>
        </p:nvSpPr>
        <p:spPr>
          <a:xfrm>
            <a:off x="7627959" y="6164013"/>
            <a:ext cx="13491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Nova" panose="020B0504020202020204" pitchFamily="34" charset="0"/>
              </a:rPr>
              <a:t>Historical tracking data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A5BF5A3-9F13-34AD-2599-0FAD59375E9D}"/>
              </a:ext>
            </a:extLst>
          </p:cNvPr>
          <p:cNvSpPr txBox="1"/>
          <p:nvPr/>
        </p:nvSpPr>
        <p:spPr>
          <a:xfrm>
            <a:off x="9275086" y="6164013"/>
            <a:ext cx="13491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Nova" panose="020B0504020202020204" pitchFamily="34" charset="0"/>
              </a:rPr>
              <a:t>Spatiotemporal data mining</a:t>
            </a:r>
          </a:p>
        </p:txBody>
      </p:sp>
      <p:graphicFrame>
        <p:nvGraphicFramePr>
          <p:cNvPr id="168" name="표 167">
            <a:extLst>
              <a:ext uri="{FF2B5EF4-FFF2-40B4-BE49-F238E27FC236}">
                <a16:creationId xmlns:a16="http://schemas.microsoft.com/office/drawing/2014/main" id="{5BCF4815-F8A8-F446-20CF-7ABC189E65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426946"/>
              </p:ext>
            </p:extLst>
          </p:nvPr>
        </p:nvGraphicFramePr>
        <p:xfrm>
          <a:off x="4313044" y="4979698"/>
          <a:ext cx="1254258" cy="11882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7043">
                  <a:extLst>
                    <a:ext uri="{9D8B030D-6E8A-4147-A177-3AD203B41FA5}">
                      <a16:colId xmlns:a16="http://schemas.microsoft.com/office/drawing/2014/main" val="1045483893"/>
                    </a:ext>
                  </a:extLst>
                </a:gridCol>
                <a:gridCol w="487215">
                  <a:extLst>
                    <a:ext uri="{9D8B030D-6E8A-4147-A177-3AD203B41FA5}">
                      <a16:colId xmlns:a16="http://schemas.microsoft.com/office/drawing/2014/main" val="3550168671"/>
                    </a:ext>
                  </a:extLst>
                </a:gridCol>
              </a:tblGrid>
              <a:tr h="118828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813350"/>
                  </a:ext>
                </a:extLst>
              </a:tr>
            </a:tbl>
          </a:graphicData>
        </a:graphic>
      </p:graphicFrame>
      <p:graphicFrame>
        <p:nvGraphicFramePr>
          <p:cNvPr id="169" name="표 168">
            <a:extLst>
              <a:ext uri="{FF2B5EF4-FFF2-40B4-BE49-F238E27FC236}">
                <a16:creationId xmlns:a16="http://schemas.microsoft.com/office/drawing/2014/main" id="{84292651-CA35-0227-8FC5-848E7640D2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447452"/>
              </p:ext>
            </p:extLst>
          </p:nvPr>
        </p:nvGraphicFramePr>
        <p:xfrm>
          <a:off x="2604897" y="4980378"/>
          <a:ext cx="1254258" cy="11882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223">
                  <a:extLst>
                    <a:ext uri="{9D8B030D-6E8A-4147-A177-3AD203B41FA5}">
                      <a16:colId xmlns:a16="http://schemas.microsoft.com/office/drawing/2014/main" val="1045483893"/>
                    </a:ext>
                  </a:extLst>
                </a:gridCol>
                <a:gridCol w="502035">
                  <a:extLst>
                    <a:ext uri="{9D8B030D-6E8A-4147-A177-3AD203B41FA5}">
                      <a16:colId xmlns:a16="http://schemas.microsoft.com/office/drawing/2014/main" val="3550168671"/>
                    </a:ext>
                  </a:extLst>
                </a:gridCol>
              </a:tblGrid>
              <a:tr h="1188289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Arial Nova" panose="020B05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Arial Nova" panose="020B05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813350"/>
                  </a:ext>
                </a:extLst>
              </a:tr>
            </a:tbl>
          </a:graphicData>
        </a:graphic>
      </p:graphicFrame>
      <p:pic>
        <p:nvPicPr>
          <p:cNvPr id="38" name="그림 37">
            <a:extLst>
              <a:ext uri="{FF2B5EF4-FFF2-40B4-BE49-F238E27FC236}">
                <a16:creationId xmlns:a16="http://schemas.microsoft.com/office/drawing/2014/main" id="{8C352155-8F0D-23A9-07E8-ED011AFD7B03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736" y="2890512"/>
            <a:ext cx="735243" cy="774343"/>
          </a:xfrm>
          <a:prstGeom prst="rect">
            <a:avLst/>
          </a:prstGeom>
        </p:spPr>
      </p:pic>
      <p:sp>
        <p:nvSpPr>
          <p:cNvPr id="39" name="직사각형 38">
            <a:extLst>
              <a:ext uri="{FF2B5EF4-FFF2-40B4-BE49-F238E27FC236}">
                <a16:creationId xmlns:a16="http://schemas.microsoft.com/office/drawing/2014/main" id="{19E0D496-9979-8A55-E214-A694B8AB8F69}"/>
              </a:ext>
            </a:extLst>
          </p:cNvPr>
          <p:cNvSpPr/>
          <p:nvPr/>
        </p:nvSpPr>
        <p:spPr>
          <a:xfrm>
            <a:off x="4337719" y="3705457"/>
            <a:ext cx="1204907" cy="426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</a:pPr>
            <a:r>
              <a:rPr lang="en-US" sz="1200" dirty="0" err="1">
                <a:latin typeface="Arial Nova" panose="020B0504020202020204" pitchFamily="34" charset="0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WiFi</a:t>
            </a:r>
            <a:r>
              <a:rPr lang="en-US" sz="1200" dirty="0">
                <a:latin typeface="Arial Nova" panose="020B0504020202020204" pitchFamily="34" charset="0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-enabled devices</a:t>
            </a:r>
            <a:endParaRPr lang="en-US" sz="12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C8B7385-52CB-97DD-CF21-A9DFFAD73260}"/>
              </a:ext>
            </a:extLst>
          </p:cNvPr>
          <p:cNvSpPr txBox="1"/>
          <p:nvPr/>
        </p:nvSpPr>
        <p:spPr>
          <a:xfrm>
            <a:off x="4273622" y="2322873"/>
            <a:ext cx="1641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latin typeface="Arial Nova" panose="020B0504020202020204" pitchFamily="34" charset="0"/>
              </a:rPr>
              <a:t>WiFi</a:t>
            </a:r>
            <a:r>
              <a:rPr lang="en-US" sz="1600" b="1" dirty="0">
                <a:latin typeface="Arial Nova" panose="020B0504020202020204" pitchFamily="34" charset="0"/>
              </a:rPr>
              <a:t> Sensing</a:t>
            </a:r>
          </a:p>
        </p:txBody>
      </p:sp>
      <p:pic>
        <p:nvPicPr>
          <p:cNvPr id="74" name="그림 73">
            <a:extLst>
              <a:ext uri="{FF2B5EF4-FFF2-40B4-BE49-F238E27FC236}">
                <a16:creationId xmlns:a16="http://schemas.microsoft.com/office/drawing/2014/main" id="{B9B20316-1F71-03D6-FE59-125595408DB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9" t="26921" r="28285" b="29652"/>
          <a:stretch/>
        </p:blipFill>
        <p:spPr>
          <a:xfrm>
            <a:off x="6261744" y="3421302"/>
            <a:ext cx="643185" cy="654657"/>
          </a:xfrm>
          <a:prstGeom prst="rect">
            <a:avLst/>
          </a:prstGeom>
        </p:spPr>
      </p:pic>
      <p:sp>
        <p:nvSpPr>
          <p:cNvPr id="81" name="직사각형 80">
            <a:extLst>
              <a:ext uri="{FF2B5EF4-FFF2-40B4-BE49-F238E27FC236}">
                <a16:creationId xmlns:a16="http://schemas.microsoft.com/office/drawing/2014/main" id="{FF273DE5-56F4-4A28-2395-2831ECB989B3}"/>
              </a:ext>
            </a:extLst>
          </p:cNvPr>
          <p:cNvSpPr/>
          <p:nvPr/>
        </p:nvSpPr>
        <p:spPr>
          <a:xfrm>
            <a:off x="6922910" y="3697429"/>
            <a:ext cx="67159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</a:pPr>
            <a:r>
              <a:rPr lang="en-US" sz="1200" dirty="0" err="1">
                <a:latin typeface="Arial Nova" panose="020B0504020202020204" pitchFamily="34" charset="0"/>
                <a:ea typeface="KoPubWorld돋움체_Pro Medium" panose="00000600000000000000" pitchFamily="50" charset="-127"/>
              </a:rPr>
              <a:t>WiFi</a:t>
            </a:r>
            <a:r>
              <a:rPr lang="en-US" sz="1200" dirty="0">
                <a:latin typeface="Arial Nova" panose="020B0504020202020204" pitchFamily="34" charset="0"/>
                <a:ea typeface="KoPubWorld돋움체_Pro Medium" panose="00000600000000000000" pitchFamily="50" charset="-127"/>
              </a:rPr>
              <a:t> sensor</a:t>
            </a:r>
          </a:p>
        </p:txBody>
      </p:sp>
      <p:pic>
        <p:nvPicPr>
          <p:cNvPr id="82" name="그림 81">
            <a:extLst>
              <a:ext uri="{FF2B5EF4-FFF2-40B4-BE49-F238E27FC236}">
                <a16:creationId xmlns:a16="http://schemas.microsoft.com/office/drawing/2014/main" id="{47EC359A-0D0B-A92C-14ED-89510090C20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0" t="561" r="5833" b="16111"/>
          <a:stretch/>
        </p:blipFill>
        <p:spPr>
          <a:xfrm>
            <a:off x="9501424" y="2856151"/>
            <a:ext cx="810160" cy="808705"/>
          </a:xfrm>
          <a:prstGeom prst="rect">
            <a:avLst/>
          </a:prstGeom>
        </p:spPr>
      </p:pic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3638B1-C1E2-E321-D0FD-C0503EEDC2C8}"/>
              </a:ext>
            </a:extLst>
          </p:cNvPr>
          <p:cNvSpPr/>
          <p:nvPr/>
        </p:nvSpPr>
        <p:spPr>
          <a:xfrm>
            <a:off x="9161176" y="3657371"/>
            <a:ext cx="1401210" cy="3911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100" dirty="0">
                <a:latin typeface="Arial Nova" panose="020B0504020202020204" pitchFamily="34" charset="0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Access point</a:t>
            </a:r>
            <a:br>
              <a:rPr lang="en-US" sz="1100" dirty="0">
                <a:latin typeface="Arial Nova" panose="020B0504020202020204" pitchFamily="34" charset="0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</a:br>
            <a:r>
              <a:rPr lang="en-US" sz="800" dirty="0">
                <a:latin typeface="Arial Nova" panose="020B0504020202020204" pitchFamily="34" charset="0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(e.g., Public </a:t>
            </a:r>
            <a:r>
              <a:rPr lang="en-US" sz="800" dirty="0" err="1">
                <a:latin typeface="Arial Nova" panose="020B0504020202020204" pitchFamily="34" charset="0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WiFi</a:t>
            </a:r>
            <a:r>
              <a:rPr lang="en-US" sz="800" dirty="0">
                <a:latin typeface="Arial Nova" panose="020B0504020202020204" pitchFamily="34" charset="0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)</a:t>
            </a:r>
            <a:endParaRPr lang="en-US" sz="1000" dirty="0"/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1CC6519B-467E-CB3B-85C8-82F52E8374A2}"/>
              </a:ext>
            </a:extLst>
          </p:cNvPr>
          <p:cNvCxnSpPr>
            <a:cxnSpLocks/>
            <a:endCxn id="69" idx="1"/>
          </p:cNvCxnSpPr>
          <p:nvPr/>
        </p:nvCxnSpPr>
        <p:spPr>
          <a:xfrm>
            <a:off x="3881891" y="3420246"/>
            <a:ext cx="45388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오른쪽 중괄호 88">
            <a:extLst>
              <a:ext uri="{FF2B5EF4-FFF2-40B4-BE49-F238E27FC236}">
                <a16:creationId xmlns:a16="http://schemas.microsoft.com/office/drawing/2014/main" id="{785363CC-17D3-A392-C975-4578B150CC3B}"/>
              </a:ext>
            </a:extLst>
          </p:cNvPr>
          <p:cNvSpPr/>
          <p:nvPr/>
        </p:nvSpPr>
        <p:spPr>
          <a:xfrm rot="16200000">
            <a:off x="6414163" y="485677"/>
            <a:ext cx="338554" cy="7922629"/>
          </a:xfrm>
          <a:prstGeom prst="rightBrace">
            <a:avLst>
              <a:gd name="adj1" fmla="val 8333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원호 90">
            <a:extLst>
              <a:ext uri="{FF2B5EF4-FFF2-40B4-BE49-F238E27FC236}">
                <a16:creationId xmlns:a16="http://schemas.microsoft.com/office/drawing/2014/main" id="{FEC46665-BCAE-569E-41BF-AC26FB3CCFA5}"/>
              </a:ext>
            </a:extLst>
          </p:cNvPr>
          <p:cNvSpPr/>
          <p:nvPr/>
        </p:nvSpPr>
        <p:spPr>
          <a:xfrm>
            <a:off x="5465410" y="3036424"/>
            <a:ext cx="3809676" cy="737482"/>
          </a:xfrm>
          <a:prstGeom prst="arc">
            <a:avLst>
              <a:gd name="adj1" fmla="val 10927633"/>
              <a:gd name="adj2" fmla="val 21529846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5" name="그림 74">
            <a:extLst>
              <a:ext uri="{FF2B5EF4-FFF2-40B4-BE49-F238E27FC236}">
                <a16:creationId xmlns:a16="http://schemas.microsoft.com/office/drawing/2014/main" id="{7683EFF0-92C6-BBBA-E91D-ED9365F0537B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5" t="4698" r="4999" b="19746"/>
          <a:stretch/>
        </p:blipFill>
        <p:spPr>
          <a:xfrm>
            <a:off x="7188799" y="2906643"/>
            <a:ext cx="362898" cy="317346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983BEAD6-C6F4-75DF-F5D9-D94E2A3E90AA}"/>
              </a:ext>
            </a:extLst>
          </p:cNvPr>
          <p:cNvCxnSpPr>
            <a:cxnSpLocks/>
          </p:cNvCxnSpPr>
          <p:nvPr/>
        </p:nvCxnSpPr>
        <p:spPr>
          <a:xfrm flipH="1">
            <a:off x="6900025" y="3151643"/>
            <a:ext cx="173692" cy="232960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82B59C8D-4E8F-7E3D-7FA8-4D7E758AC7B4}"/>
              </a:ext>
            </a:extLst>
          </p:cNvPr>
          <p:cNvCxnSpPr>
            <a:cxnSpLocks/>
          </p:cNvCxnSpPr>
          <p:nvPr/>
        </p:nvCxnSpPr>
        <p:spPr>
          <a:xfrm flipH="1">
            <a:off x="6986871" y="3211830"/>
            <a:ext cx="173692" cy="232960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871CB163-5EAE-D8B7-ACEA-352BF2CECE01}"/>
              </a:ext>
            </a:extLst>
          </p:cNvPr>
          <p:cNvCxnSpPr>
            <a:cxnSpLocks/>
          </p:cNvCxnSpPr>
          <p:nvPr/>
        </p:nvCxnSpPr>
        <p:spPr>
          <a:xfrm flipH="1">
            <a:off x="7077544" y="3275392"/>
            <a:ext cx="173692" cy="232960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060E2A6A-9E77-BEA8-F700-84C59A157866}"/>
              </a:ext>
            </a:extLst>
          </p:cNvPr>
          <p:cNvSpPr/>
          <p:nvPr/>
        </p:nvSpPr>
        <p:spPr>
          <a:xfrm>
            <a:off x="7819669" y="4284083"/>
            <a:ext cx="1724647" cy="305894"/>
          </a:xfrm>
          <a:prstGeom prst="rect">
            <a:avLst/>
          </a:prstGeom>
          <a:noFill/>
          <a:ln>
            <a:noFill/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i="1" dirty="0"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latin typeface="Arial Nova" panose="020B0504020202020204" pitchFamily="34" charset="0"/>
              </a:rPr>
              <a:t>Extract Metrics</a:t>
            </a:r>
          </a:p>
        </p:txBody>
      </p:sp>
    </p:spTree>
    <p:extLst>
      <p:ext uri="{BB962C8B-B14F-4D97-AF65-F5344CB8AC3E}">
        <p14:creationId xmlns:p14="http://schemas.microsoft.com/office/powerpoint/2010/main" val="2024145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17946-CF87-C1EF-4315-835C8EF44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표 68">
            <a:extLst>
              <a:ext uri="{FF2B5EF4-FFF2-40B4-BE49-F238E27FC236}">
                <a16:creationId xmlns:a16="http://schemas.microsoft.com/office/drawing/2014/main" id="{FD3D71D7-70B8-C1B6-1EA4-31DD0F236D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110390"/>
              </p:ext>
            </p:extLst>
          </p:nvPr>
        </p:nvGraphicFramePr>
        <p:xfrm>
          <a:off x="5771030" y="2670505"/>
          <a:ext cx="4792278" cy="1476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2278">
                  <a:extLst>
                    <a:ext uri="{9D8B030D-6E8A-4147-A177-3AD203B41FA5}">
                      <a16:colId xmlns:a16="http://schemas.microsoft.com/office/drawing/2014/main" val="1045483893"/>
                    </a:ext>
                  </a:extLst>
                </a:gridCol>
              </a:tblGrid>
              <a:tr h="1476442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Arial Nova" panose="020B05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813350"/>
                  </a:ext>
                </a:extLst>
              </a:tr>
            </a:tbl>
          </a:graphicData>
        </a:graphic>
      </p:graphicFrame>
      <p:graphicFrame>
        <p:nvGraphicFramePr>
          <p:cNvPr id="68" name="표 67">
            <a:extLst>
              <a:ext uri="{FF2B5EF4-FFF2-40B4-BE49-F238E27FC236}">
                <a16:creationId xmlns:a16="http://schemas.microsoft.com/office/drawing/2014/main" id="{85079862-B759-D815-7C82-B039F0A30041}"/>
              </a:ext>
            </a:extLst>
          </p:cNvPr>
          <p:cNvGraphicFramePr>
            <a:graphicFrameLocks noGrp="1"/>
          </p:cNvGraphicFramePr>
          <p:nvPr/>
        </p:nvGraphicFramePr>
        <p:xfrm>
          <a:off x="2604897" y="2682025"/>
          <a:ext cx="1254258" cy="1476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223">
                  <a:extLst>
                    <a:ext uri="{9D8B030D-6E8A-4147-A177-3AD203B41FA5}">
                      <a16:colId xmlns:a16="http://schemas.microsoft.com/office/drawing/2014/main" val="1045483893"/>
                    </a:ext>
                  </a:extLst>
                </a:gridCol>
                <a:gridCol w="502035">
                  <a:extLst>
                    <a:ext uri="{9D8B030D-6E8A-4147-A177-3AD203B41FA5}">
                      <a16:colId xmlns:a16="http://schemas.microsoft.com/office/drawing/2014/main" val="3550168671"/>
                    </a:ext>
                  </a:extLst>
                </a:gridCol>
              </a:tblGrid>
              <a:tr h="1476442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Arial Nova" panose="020B05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Arial Nova" panose="020B05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813350"/>
                  </a:ext>
                </a:extLst>
              </a:tr>
            </a:tbl>
          </a:graphicData>
        </a:graphic>
      </p:graphicFrame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CAA64F99-AA00-40E3-1F97-B17A2CE8278F}"/>
              </a:ext>
            </a:extLst>
          </p:cNvPr>
          <p:cNvCxnSpPr>
            <a:cxnSpLocks/>
          </p:cNvCxnSpPr>
          <p:nvPr/>
        </p:nvCxnSpPr>
        <p:spPr>
          <a:xfrm>
            <a:off x="2647849" y="6774913"/>
            <a:ext cx="7922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EA6DC456-4469-9787-43FF-6560249696FD}"/>
              </a:ext>
            </a:extLst>
          </p:cNvPr>
          <p:cNvSpPr txBox="1"/>
          <p:nvPr/>
        </p:nvSpPr>
        <p:spPr>
          <a:xfrm>
            <a:off x="9552123" y="6795853"/>
            <a:ext cx="101835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Nova" panose="020B0504020202020204" pitchFamily="34" charset="0"/>
              </a:rPr>
              <a:t>Information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251B2A5F-C9D6-B110-5B62-03929CF16637}"/>
              </a:ext>
            </a:extLst>
          </p:cNvPr>
          <p:cNvSpPr/>
          <p:nvPr/>
        </p:nvSpPr>
        <p:spPr>
          <a:xfrm>
            <a:off x="5956312" y="4984809"/>
            <a:ext cx="1254257" cy="11646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000" dirty="0">
              <a:latin typeface="Arial Nova" panose="020B0504020202020204" pitchFamily="34" charset="0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A59582E6-D0F9-3885-91B9-7C24A7F2ECF1}"/>
              </a:ext>
            </a:extLst>
          </p:cNvPr>
          <p:cNvSpPr/>
          <p:nvPr/>
        </p:nvSpPr>
        <p:spPr>
          <a:xfrm>
            <a:off x="7643017" y="4984809"/>
            <a:ext cx="1254257" cy="11646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000" dirty="0">
              <a:latin typeface="Arial Nova" panose="020B0504020202020204" pitchFamily="34" charset="0"/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22ABCE72-E6C1-CE7D-A33E-B88B5D43DCFC}"/>
              </a:ext>
            </a:extLst>
          </p:cNvPr>
          <p:cNvSpPr/>
          <p:nvPr/>
        </p:nvSpPr>
        <p:spPr>
          <a:xfrm>
            <a:off x="9296213" y="4984809"/>
            <a:ext cx="1254257" cy="11646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000" dirty="0">
              <a:latin typeface="Arial Nova" panose="020B0504020202020204" pitchFamily="34" charset="0"/>
            </a:endParaRPr>
          </a:p>
        </p:txBody>
      </p:sp>
      <p:pic>
        <p:nvPicPr>
          <p:cNvPr id="117" name="Picture 2" descr="보행자  프리미엄 아이콘">
            <a:extLst>
              <a:ext uri="{FF2B5EF4-FFF2-40B4-BE49-F238E27FC236}">
                <a16:creationId xmlns:a16="http://schemas.microsoft.com/office/drawing/2014/main" id="{9CFE3092-BE97-7067-3A6F-5D363EF2F2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9330"/>
          <a:stretch/>
        </p:blipFill>
        <p:spPr bwMode="auto">
          <a:xfrm>
            <a:off x="3375424" y="3111539"/>
            <a:ext cx="397153" cy="434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8" name="Picture 4" descr="남자  프리미엄 아이콘">
            <a:extLst>
              <a:ext uri="{FF2B5EF4-FFF2-40B4-BE49-F238E27FC236}">
                <a16:creationId xmlns:a16="http://schemas.microsoft.com/office/drawing/2014/main" id="{7AE3C2CB-B738-0C87-8444-735035A81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1685" y="2892853"/>
            <a:ext cx="397153" cy="397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9" name="Picture 2" descr="보행자  프리미엄 아이콘">
            <a:extLst>
              <a:ext uri="{FF2B5EF4-FFF2-40B4-BE49-F238E27FC236}">
                <a16:creationId xmlns:a16="http://schemas.microsoft.com/office/drawing/2014/main" id="{977E820A-618C-D508-5CB0-2F0F64B8F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674497" y="3610153"/>
            <a:ext cx="397153" cy="397153"/>
          </a:xfrm>
          <a:prstGeom prst="rect">
            <a:avLst/>
          </a:prstGeom>
          <a:noFill/>
        </p:spPr>
      </p:pic>
      <p:sp>
        <p:nvSpPr>
          <p:cNvPr id="120" name="타원 119">
            <a:extLst>
              <a:ext uri="{FF2B5EF4-FFF2-40B4-BE49-F238E27FC236}">
                <a16:creationId xmlns:a16="http://schemas.microsoft.com/office/drawing/2014/main" id="{3E9A7CB8-F7B6-1910-E888-68C986669A64}"/>
              </a:ext>
            </a:extLst>
          </p:cNvPr>
          <p:cNvSpPr/>
          <p:nvPr/>
        </p:nvSpPr>
        <p:spPr>
          <a:xfrm>
            <a:off x="2844416" y="4159888"/>
            <a:ext cx="179180" cy="1791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66543216-73C3-6DCA-F79B-2C59CC14C4D0}"/>
              </a:ext>
            </a:extLst>
          </p:cNvPr>
          <p:cNvSpPr/>
          <p:nvPr/>
        </p:nvSpPr>
        <p:spPr>
          <a:xfrm>
            <a:off x="3530718" y="4078458"/>
            <a:ext cx="179180" cy="1791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4" name="연결선: 구부러짐 123">
            <a:extLst>
              <a:ext uri="{FF2B5EF4-FFF2-40B4-BE49-F238E27FC236}">
                <a16:creationId xmlns:a16="http://schemas.microsoft.com/office/drawing/2014/main" id="{EBEBD6AD-CA2B-7550-BD2E-8DAD6DB108AA}"/>
              </a:ext>
            </a:extLst>
          </p:cNvPr>
          <p:cNvCxnSpPr>
            <a:cxnSpLocks/>
          </p:cNvCxnSpPr>
          <p:nvPr/>
        </p:nvCxnSpPr>
        <p:spPr>
          <a:xfrm flipV="1">
            <a:off x="6352008" y="5645421"/>
            <a:ext cx="499157" cy="42030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연결선: 구부러짐 124">
            <a:extLst>
              <a:ext uri="{FF2B5EF4-FFF2-40B4-BE49-F238E27FC236}">
                <a16:creationId xmlns:a16="http://schemas.microsoft.com/office/drawing/2014/main" id="{0D44ED06-326F-F15A-6318-5E320C7DF379}"/>
              </a:ext>
            </a:extLst>
          </p:cNvPr>
          <p:cNvCxnSpPr>
            <a:cxnSpLocks/>
          </p:cNvCxnSpPr>
          <p:nvPr/>
        </p:nvCxnSpPr>
        <p:spPr>
          <a:xfrm rot="16200000" flipV="1">
            <a:off x="6519595" y="5659990"/>
            <a:ext cx="332735" cy="53622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6" name="타원 125">
            <a:extLst>
              <a:ext uri="{FF2B5EF4-FFF2-40B4-BE49-F238E27FC236}">
                <a16:creationId xmlns:a16="http://schemas.microsoft.com/office/drawing/2014/main" id="{2F8CACF9-7E1C-CBDD-4258-B50AD4A95F17}"/>
              </a:ext>
            </a:extLst>
          </p:cNvPr>
          <p:cNvSpPr/>
          <p:nvPr/>
        </p:nvSpPr>
        <p:spPr>
          <a:xfrm>
            <a:off x="2962242" y="5128301"/>
            <a:ext cx="163963" cy="17396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타원 126">
            <a:extLst>
              <a:ext uri="{FF2B5EF4-FFF2-40B4-BE49-F238E27FC236}">
                <a16:creationId xmlns:a16="http://schemas.microsoft.com/office/drawing/2014/main" id="{C3CD0EFF-9099-069B-CB9B-9CF046A07B99}"/>
              </a:ext>
            </a:extLst>
          </p:cNvPr>
          <p:cNvSpPr/>
          <p:nvPr/>
        </p:nvSpPr>
        <p:spPr>
          <a:xfrm>
            <a:off x="3467470" y="5416449"/>
            <a:ext cx="163963" cy="17396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타원 127">
            <a:extLst>
              <a:ext uri="{FF2B5EF4-FFF2-40B4-BE49-F238E27FC236}">
                <a16:creationId xmlns:a16="http://schemas.microsoft.com/office/drawing/2014/main" id="{E283A8ED-C7A7-EB01-EBB2-419954DB6E6A}"/>
              </a:ext>
            </a:extLst>
          </p:cNvPr>
          <p:cNvSpPr/>
          <p:nvPr/>
        </p:nvSpPr>
        <p:spPr>
          <a:xfrm>
            <a:off x="2838016" y="5671117"/>
            <a:ext cx="163963" cy="17396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타원 128">
            <a:extLst>
              <a:ext uri="{FF2B5EF4-FFF2-40B4-BE49-F238E27FC236}">
                <a16:creationId xmlns:a16="http://schemas.microsoft.com/office/drawing/2014/main" id="{1A843DFC-7942-0487-F93F-E65CFE04CCFE}"/>
              </a:ext>
            </a:extLst>
          </p:cNvPr>
          <p:cNvSpPr/>
          <p:nvPr/>
        </p:nvSpPr>
        <p:spPr>
          <a:xfrm>
            <a:off x="8435521" y="5416449"/>
            <a:ext cx="163963" cy="173966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타원 129">
            <a:extLst>
              <a:ext uri="{FF2B5EF4-FFF2-40B4-BE49-F238E27FC236}">
                <a16:creationId xmlns:a16="http://schemas.microsoft.com/office/drawing/2014/main" id="{39B56476-C8B8-526A-2044-F93E5F6AA094}"/>
              </a:ext>
            </a:extLst>
          </p:cNvPr>
          <p:cNvSpPr/>
          <p:nvPr/>
        </p:nvSpPr>
        <p:spPr>
          <a:xfrm>
            <a:off x="7831467" y="5671117"/>
            <a:ext cx="163963" cy="173966"/>
          </a:xfrm>
          <a:prstGeom prst="ellipse">
            <a:avLst/>
          </a:prstGeom>
          <a:solidFill>
            <a:srgbClr val="CDCD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1" name="연결선: 구부러짐 130">
            <a:extLst>
              <a:ext uri="{FF2B5EF4-FFF2-40B4-BE49-F238E27FC236}">
                <a16:creationId xmlns:a16="http://schemas.microsoft.com/office/drawing/2014/main" id="{3799BD9D-DD75-240F-10E1-C553F97CCBCF}"/>
              </a:ext>
            </a:extLst>
          </p:cNvPr>
          <p:cNvCxnSpPr>
            <a:cxnSpLocks/>
          </p:cNvCxnSpPr>
          <p:nvPr/>
        </p:nvCxnSpPr>
        <p:spPr>
          <a:xfrm flipV="1">
            <a:off x="7995430" y="5645421"/>
            <a:ext cx="499157" cy="42030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연결선: 구부러짐 131">
            <a:extLst>
              <a:ext uri="{FF2B5EF4-FFF2-40B4-BE49-F238E27FC236}">
                <a16:creationId xmlns:a16="http://schemas.microsoft.com/office/drawing/2014/main" id="{E91EA2C0-43E3-6E83-BC47-CCB50883979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163017" y="5659990"/>
            <a:ext cx="332735" cy="53622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" name="타원 132">
            <a:extLst>
              <a:ext uri="{FF2B5EF4-FFF2-40B4-BE49-F238E27FC236}">
                <a16:creationId xmlns:a16="http://schemas.microsoft.com/office/drawing/2014/main" id="{F4789A48-CA4E-8180-B89C-EA784494E618}"/>
              </a:ext>
            </a:extLst>
          </p:cNvPr>
          <p:cNvSpPr/>
          <p:nvPr/>
        </p:nvSpPr>
        <p:spPr>
          <a:xfrm>
            <a:off x="9619497" y="5128301"/>
            <a:ext cx="163963" cy="17396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7BB1C872-0EFB-1EF4-D657-2A53E2089DF5}"/>
              </a:ext>
            </a:extLst>
          </p:cNvPr>
          <p:cNvSpPr/>
          <p:nvPr/>
        </p:nvSpPr>
        <p:spPr>
          <a:xfrm>
            <a:off x="10099325" y="5416449"/>
            <a:ext cx="163963" cy="173966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E2BD2A6E-5503-1B23-5A33-C9F5AEC823FC}"/>
              </a:ext>
            </a:extLst>
          </p:cNvPr>
          <p:cNvSpPr/>
          <p:nvPr/>
        </p:nvSpPr>
        <p:spPr>
          <a:xfrm>
            <a:off x="9495271" y="5671117"/>
            <a:ext cx="163963" cy="173966"/>
          </a:xfrm>
          <a:prstGeom prst="ellipse">
            <a:avLst/>
          </a:prstGeom>
          <a:solidFill>
            <a:srgbClr val="CDCD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6" name="연결선: 구부러짐 135">
            <a:extLst>
              <a:ext uri="{FF2B5EF4-FFF2-40B4-BE49-F238E27FC236}">
                <a16:creationId xmlns:a16="http://schemas.microsoft.com/office/drawing/2014/main" id="{9D6050DE-D9DF-572F-E78D-09847F18794F}"/>
              </a:ext>
            </a:extLst>
          </p:cNvPr>
          <p:cNvCxnSpPr>
            <a:cxnSpLocks/>
          </p:cNvCxnSpPr>
          <p:nvPr/>
        </p:nvCxnSpPr>
        <p:spPr>
          <a:xfrm flipV="1">
            <a:off x="9659234" y="5645421"/>
            <a:ext cx="499157" cy="42030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연결선: 구부러짐 136">
            <a:extLst>
              <a:ext uri="{FF2B5EF4-FFF2-40B4-BE49-F238E27FC236}">
                <a16:creationId xmlns:a16="http://schemas.microsoft.com/office/drawing/2014/main" id="{2E2C3675-A222-EC18-DEE7-F02AA59574EF}"/>
              </a:ext>
            </a:extLst>
          </p:cNvPr>
          <p:cNvCxnSpPr>
            <a:cxnSpLocks/>
          </p:cNvCxnSpPr>
          <p:nvPr/>
        </p:nvCxnSpPr>
        <p:spPr>
          <a:xfrm rot="16200000" flipV="1">
            <a:off x="9826821" y="5659990"/>
            <a:ext cx="332735" cy="53622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CA03DBB0-A7C4-FD97-6D79-197F544799DC}"/>
              </a:ext>
            </a:extLst>
          </p:cNvPr>
          <p:cNvSpPr txBox="1"/>
          <p:nvPr/>
        </p:nvSpPr>
        <p:spPr>
          <a:xfrm>
            <a:off x="9438984" y="5274228"/>
            <a:ext cx="5232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 Nova" panose="020B0504020202020204" pitchFamily="34" charset="0"/>
              </a:rPr>
              <a:t>Stay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2E7FC6B8-19F4-9ADE-388D-0594DC0049A2}"/>
              </a:ext>
            </a:extLst>
          </p:cNvPr>
          <p:cNvSpPr txBox="1"/>
          <p:nvPr/>
        </p:nvSpPr>
        <p:spPr>
          <a:xfrm>
            <a:off x="4264667" y="4646255"/>
            <a:ext cx="1326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 Nova" panose="020B0504020202020204" pitchFamily="34" charset="0"/>
              </a:rPr>
              <a:t>Count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B001B240-114F-7528-D4E6-A18343212BA8}"/>
              </a:ext>
            </a:extLst>
          </p:cNvPr>
          <p:cNvSpPr txBox="1"/>
          <p:nvPr/>
        </p:nvSpPr>
        <p:spPr>
          <a:xfrm>
            <a:off x="2574814" y="4646255"/>
            <a:ext cx="1326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 Nova" panose="020B0504020202020204" pitchFamily="34" charset="0"/>
              </a:rPr>
              <a:t>Location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53F18573-298A-BAAE-1D4E-18D9566B6999}"/>
              </a:ext>
            </a:extLst>
          </p:cNvPr>
          <p:cNvSpPr txBox="1"/>
          <p:nvPr/>
        </p:nvSpPr>
        <p:spPr>
          <a:xfrm>
            <a:off x="5935613" y="4646255"/>
            <a:ext cx="1326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 Nova" panose="020B0504020202020204" pitchFamily="34" charset="0"/>
              </a:rPr>
              <a:t>Track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4FAED4DA-8BBD-3C3A-5E76-D248B6382FFB}"/>
              </a:ext>
            </a:extLst>
          </p:cNvPr>
          <p:cNvSpPr txBox="1"/>
          <p:nvPr/>
        </p:nvSpPr>
        <p:spPr>
          <a:xfrm>
            <a:off x="7608783" y="4646255"/>
            <a:ext cx="1326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 Nova" panose="020B0504020202020204" pitchFamily="34" charset="0"/>
              </a:rPr>
              <a:t>Identify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4DCF61D6-918F-3AB0-5AB2-B2C6F6F6C9B1}"/>
              </a:ext>
            </a:extLst>
          </p:cNvPr>
          <p:cNvSpPr txBox="1"/>
          <p:nvPr/>
        </p:nvSpPr>
        <p:spPr>
          <a:xfrm>
            <a:off x="9244211" y="4646255"/>
            <a:ext cx="1326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 Nova" panose="020B0504020202020204" pitchFamily="34" charset="0"/>
              </a:rPr>
              <a:t>Activities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DBD001E-E7C2-7A91-970C-55B218A4CFB6}"/>
              </a:ext>
            </a:extLst>
          </p:cNvPr>
          <p:cNvSpPr txBox="1"/>
          <p:nvPr/>
        </p:nvSpPr>
        <p:spPr>
          <a:xfrm>
            <a:off x="2509162" y="2322873"/>
            <a:ext cx="14457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 Nova" panose="020B0504020202020204" pitchFamily="34" charset="0"/>
              </a:rPr>
              <a:t>Ground truth</a:t>
            </a:r>
          </a:p>
        </p:txBody>
      </p:sp>
      <p:sp>
        <p:nvSpPr>
          <p:cNvPr id="145" name="타원 144">
            <a:extLst>
              <a:ext uri="{FF2B5EF4-FFF2-40B4-BE49-F238E27FC236}">
                <a16:creationId xmlns:a16="http://schemas.microsoft.com/office/drawing/2014/main" id="{6BDE0BEF-1422-856B-71EA-CB882A5904AE}"/>
              </a:ext>
            </a:extLst>
          </p:cNvPr>
          <p:cNvSpPr/>
          <p:nvPr/>
        </p:nvSpPr>
        <p:spPr>
          <a:xfrm>
            <a:off x="7979290" y="5128301"/>
            <a:ext cx="163963" cy="17396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0" name="그룹 169">
            <a:extLst>
              <a:ext uri="{FF2B5EF4-FFF2-40B4-BE49-F238E27FC236}">
                <a16:creationId xmlns:a16="http://schemas.microsoft.com/office/drawing/2014/main" id="{752C38BB-4BB2-2173-3E8B-4E8FA5CCC662}"/>
              </a:ext>
            </a:extLst>
          </p:cNvPr>
          <p:cNvGrpSpPr/>
          <p:nvPr/>
        </p:nvGrpSpPr>
        <p:grpSpPr>
          <a:xfrm>
            <a:off x="6186058" y="5128301"/>
            <a:ext cx="768017" cy="716782"/>
            <a:chOff x="6664338" y="5129031"/>
            <a:chExt cx="768017" cy="716782"/>
          </a:xfrm>
        </p:grpSpPr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7F6388F3-DB11-B6CB-B3D5-D715BFD870BD}"/>
                </a:ext>
              </a:extLst>
            </p:cNvPr>
            <p:cNvSpPr/>
            <p:nvPr/>
          </p:nvSpPr>
          <p:spPr>
            <a:xfrm>
              <a:off x="7268392" y="5417179"/>
              <a:ext cx="163963" cy="17396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3119F754-9E87-E17E-8014-A21AD5DA8A6D}"/>
                </a:ext>
              </a:extLst>
            </p:cNvPr>
            <p:cNvSpPr/>
            <p:nvPr/>
          </p:nvSpPr>
          <p:spPr>
            <a:xfrm>
              <a:off x="6664338" y="5671847"/>
              <a:ext cx="163963" cy="17396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1D09CB35-BCFD-0249-84BD-199790BD86AB}"/>
                </a:ext>
              </a:extLst>
            </p:cNvPr>
            <p:cNvSpPr/>
            <p:nvPr/>
          </p:nvSpPr>
          <p:spPr>
            <a:xfrm>
              <a:off x="6814148" y="5129031"/>
              <a:ext cx="163963" cy="17396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7" name="연결선: 구부러짐 146">
            <a:extLst>
              <a:ext uri="{FF2B5EF4-FFF2-40B4-BE49-F238E27FC236}">
                <a16:creationId xmlns:a16="http://schemas.microsoft.com/office/drawing/2014/main" id="{B5B96BC9-2006-521A-9118-DA095091E562}"/>
              </a:ext>
            </a:extLst>
          </p:cNvPr>
          <p:cNvCxnSpPr>
            <a:cxnSpLocks/>
          </p:cNvCxnSpPr>
          <p:nvPr/>
        </p:nvCxnSpPr>
        <p:spPr>
          <a:xfrm flipV="1">
            <a:off x="3095550" y="3602899"/>
            <a:ext cx="457200" cy="35899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연결선: 구부러짐 147">
            <a:extLst>
              <a:ext uri="{FF2B5EF4-FFF2-40B4-BE49-F238E27FC236}">
                <a16:creationId xmlns:a16="http://schemas.microsoft.com/office/drawing/2014/main" id="{966FF086-CAB8-D7FA-A4DF-7FBCFF79F0E8}"/>
              </a:ext>
            </a:extLst>
          </p:cNvPr>
          <p:cNvCxnSpPr>
            <a:cxnSpLocks/>
          </p:cNvCxnSpPr>
          <p:nvPr/>
        </p:nvCxnSpPr>
        <p:spPr>
          <a:xfrm rot="16200000" flipV="1">
            <a:off x="3199492" y="3637580"/>
            <a:ext cx="274320" cy="45720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DAEF8AEF-7E1A-11D7-AD57-9189D8EB7D33}"/>
              </a:ext>
            </a:extLst>
          </p:cNvPr>
          <p:cNvSpPr txBox="1"/>
          <p:nvPr/>
        </p:nvSpPr>
        <p:spPr>
          <a:xfrm>
            <a:off x="2574814" y="6164013"/>
            <a:ext cx="152932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Nova" panose="020B0504020202020204" pitchFamily="34" charset="0"/>
              </a:rPr>
              <a:t>WiFi signal-based localization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CBAAECF3-A7FE-1B5D-A7A7-6866336493C9}"/>
              </a:ext>
            </a:extLst>
          </p:cNvPr>
          <p:cNvSpPr txBox="1"/>
          <p:nvPr/>
        </p:nvSpPr>
        <p:spPr>
          <a:xfrm>
            <a:off x="4313045" y="6164013"/>
            <a:ext cx="13491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Nova" panose="020B0504020202020204" pitchFamily="34" charset="0"/>
              </a:rPr>
              <a:t># of unique MAC addresses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28B44B8A-0025-ECBD-30DF-9B14DC6BD771}"/>
              </a:ext>
            </a:extLst>
          </p:cNvPr>
          <p:cNvSpPr txBox="1"/>
          <p:nvPr/>
        </p:nvSpPr>
        <p:spPr>
          <a:xfrm>
            <a:off x="5956311" y="6164013"/>
            <a:ext cx="13491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Nova" panose="020B0504020202020204" pitchFamily="34" charset="0"/>
              </a:rPr>
              <a:t>Timestamp + location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DACEC3D7-57DD-8394-8485-430A8C0B4045}"/>
              </a:ext>
            </a:extLst>
          </p:cNvPr>
          <p:cNvSpPr txBox="1"/>
          <p:nvPr/>
        </p:nvSpPr>
        <p:spPr>
          <a:xfrm>
            <a:off x="7627959" y="6164013"/>
            <a:ext cx="13491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Nova" panose="020B0504020202020204" pitchFamily="34" charset="0"/>
              </a:rPr>
              <a:t>Historical tracking data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010F35FD-3CB8-0583-C541-0128B043E81E}"/>
              </a:ext>
            </a:extLst>
          </p:cNvPr>
          <p:cNvSpPr txBox="1"/>
          <p:nvPr/>
        </p:nvSpPr>
        <p:spPr>
          <a:xfrm>
            <a:off x="9275086" y="6164013"/>
            <a:ext cx="13491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Nova" panose="020B0504020202020204" pitchFamily="34" charset="0"/>
              </a:rPr>
              <a:t>Spatiotemporal data mining</a:t>
            </a:r>
          </a:p>
        </p:txBody>
      </p:sp>
      <p:graphicFrame>
        <p:nvGraphicFramePr>
          <p:cNvPr id="168" name="표 167">
            <a:extLst>
              <a:ext uri="{FF2B5EF4-FFF2-40B4-BE49-F238E27FC236}">
                <a16:creationId xmlns:a16="http://schemas.microsoft.com/office/drawing/2014/main" id="{1FB6FA21-E091-8E66-0F00-5B59B4B981F4}"/>
              </a:ext>
            </a:extLst>
          </p:cNvPr>
          <p:cNvGraphicFramePr>
            <a:graphicFrameLocks noGrp="1"/>
          </p:cNvGraphicFramePr>
          <p:nvPr/>
        </p:nvGraphicFramePr>
        <p:xfrm>
          <a:off x="4313044" y="4979698"/>
          <a:ext cx="1254258" cy="11882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7043">
                  <a:extLst>
                    <a:ext uri="{9D8B030D-6E8A-4147-A177-3AD203B41FA5}">
                      <a16:colId xmlns:a16="http://schemas.microsoft.com/office/drawing/2014/main" val="1045483893"/>
                    </a:ext>
                  </a:extLst>
                </a:gridCol>
                <a:gridCol w="487215">
                  <a:extLst>
                    <a:ext uri="{9D8B030D-6E8A-4147-A177-3AD203B41FA5}">
                      <a16:colId xmlns:a16="http://schemas.microsoft.com/office/drawing/2014/main" val="3550168671"/>
                    </a:ext>
                  </a:extLst>
                </a:gridCol>
              </a:tblGrid>
              <a:tr h="118828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813350"/>
                  </a:ext>
                </a:extLst>
              </a:tr>
            </a:tbl>
          </a:graphicData>
        </a:graphic>
      </p:graphicFrame>
      <p:graphicFrame>
        <p:nvGraphicFramePr>
          <p:cNvPr id="169" name="표 168">
            <a:extLst>
              <a:ext uri="{FF2B5EF4-FFF2-40B4-BE49-F238E27FC236}">
                <a16:creationId xmlns:a16="http://schemas.microsoft.com/office/drawing/2014/main" id="{54952CEA-4AC6-F883-8854-C1722EE9C8D9}"/>
              </a:ext>
            </a:extLst>
          </p:cNvPr>
          <p:cNvGraphicFramePr>
            <a:graphicFrameLocks noGrp="1"/>
          </p:cNvGraphicFramePr>
          <p:nvPr/>
        </p:nvGraphicFramePr>
        <p:xfrm>
          <a:off x="2604897" y="4980378"/>
          <a:ext cx="1254258" cy="11882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223">
                  <a:extLst>
                    <a:ext uri="{9D8B030D-6E8A-4147-A177-3AD203B41FA5}">
                      <a16:colId xmlns:a16="http://schemas.microsoft.com/office/drawing/2014/main" val="1045483893"/>
                    </a:ext>
                  </a:extLst>
                </a:gridCol>
                <a:gridCol w="502035">
                  <a:extLst>
                    <a:ext uri="{9D8B030D-6E8A-4147-A177-3AD203B41FA5}">
                      <a16:colId xmlns:a16="http://schemas.microsoft.com/office/drawing/2014/main" val="3550168671"/>
                    </a:ext>
                  </a:extLst>
                </a:gridCol>
              </a:tblGrid>
              <a:tr h="1188289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Arial Nova" panose="020B05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Arial Nova" panose="020B05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813350"/>
                  </a:ext>
                </a:extLst>
              </a:tr>
            </a:tbl>
          </a:graphicData>
        </a:graphic>
      </p:graphicFrame>
      <p:grpSp>
        <p:nvGrpSpPr>
          <p:cNvPr id="5" name="그룹 4">
            <a:extLst>
              <a:ext uri="{FF2B5EF4-FFF2-40B4-BE49-F238E27FC236}">
                <a16:creationId xmlns:a16="http://schemas.microsoft.com/office/drawing/2014/main" id="{57108318-3E3D-183B-6DEB-D9E8F0269627}"/>
              </a:ext>
            </a:extLst>
          </p:cNvPr>
          <p:cNvGrpSpPr/>
          <p:nvPr/>
        </p:nvGrpSpPr>
        <p:grpSpPr>
          <a:xfrm>
            <a:off x="5758425" y="2890512"/>
            <a:ext cx="1204907" cy="1241665"/>
            <a:chOff x="5201781" y="2890512"/>
            <a:chExt cx="1204907" cy="1241665"/>
          </a:xfrm>
        </p:grpSpPr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CC76E32B-537F-4412-267C-1DFA1381BF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7798" y="2890512"/>
              <a:ext cx="735243" cy="774343"/>
            </a:xfrm>
            <a:prstGeom prst="rect">
              <a:avLst/>
            </a:prstGeom>
          </p:spPr>
        </p:pic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713F1F9A-FC66-961A-E48A-D4C1BA0BA719}"/>
                </a:ext>
              </a:extLst>
            </p:cNvPr>
            <p:cNvSpPr/>
            <p:nvPr/>
          </p:nvSpPr>
          <p:spPr>
            <a:xfrm>
              <a:off x="5201781" y="3705457"/>
              <a:ext cx="1204907" cy="4267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1300"/>
                </a:lnSpc>
              </a:pPr>
              <a:r>
                <a:rPr lang="en-US" sz="1200" dirty="0" err="1">
                  <a:latin typeface="Arial Nova" panose="020B0504020202020204" pitchFamily="34" charset="0"/>
                  <a:ea typeface="KoPubWorld돋움체_Pro Medium" panose="00000600000000000000" pitchFamily="50" charset="-127"/>
                  <a:cs typeface="KoPubWorld돋움체_Pro Medium" panose="00000600000000000000" pitchFamily="50" charset="-127"/>
                </a:rPr>
                <a:t>WiFi</a:t>
              </a:r>
              <a:r>
                <a:rPr lang="en-US" sz="1200" dirty="0">
                  <a:latin typeface="Arial Nova" panose="020B0504020202020204" pitchFamily="34" charset="0"/>
                  <a:ea typeface="KoPubWorld돋움체_Pro Medium" panose="00000600000000000000" pitchFamily="50" charset="-127"/>
                  <a:cs typeface="KoPubWorld돋움체_Pro Medium" panose="00000600000000000000" pitchFamily="50" charset="-127"/>
                </a:rPr>
                <a:t>-enabled devices</a:t>
              </a:r>
              <a:endParaRPr lang="en-US" sz="1200" dirty="0"/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E5B73411-9AEF-B47A-E56D-B4C3CABFE98C}"/>
              </a:ext>
            </a:extLst>
          </p:cNvPr>
          <p:cNvSpPr txBox="1"/>
          <p:nvPr/>
        </p:nvSpPr>
        <p:spPr>
          <a:xfrm>
            <a:off x="5662170" y="2330623"/>
            <a:ext cx="1641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latin typeface="Arial Nova" panose="020B0504020202020204" pitchFamily="34" charset="0"/>
              </a:rPr>
              <a:t>WiFi</a:t>
            </a:r>
            <a:r>
              <a:rPr lang="en-US" sz="1600" b="1" dirty="0">
                <a:latin typeface="Arial Nova" panose="020B0504020202020204" pitchFamily="34" charset="0"/>
              </a:rPr>
              <a:t> Sensing</a:t>
            </a:r>
          </a:p>
        </p:txBody>
      </p:sp>
      <p:pic>
        <p:nvPicPr>
          <p:cNvPr id="74" name="그림 73">
            <a:extLst>
              <a:ext uri="{FF2B5EF4-FFF2-40B4-BE49-F238E27FC236}">
                <a16:creationId xmlns:a16="http://schemas.microsoft.com/office/drawing/2014/main" id="{60B387BA-D073-9189-9EF0-DF779A6EFA6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9" t="26921" r="28285" b="29652"/>
          <a:stretch/>
        </p:blipFill>
        <p:spPr>
          <a:xfrm>
            <a:off x="7267706" y="3390822"/>
            <a:ext cx="643185" cy="654657"/>
          </a:xfrm>
          <a:prstGeom prst="rect">
            <a:avLst/>
          </a:prstGeom>
        </p:spPr>
      </p:pic>
      <p:sp>
        <p:nvSpPr>
          <p:cNvPr id="81" name="직사각형 80">
            <a:extLst>
              <a:ext uri="{FF2B5EF4-FFF2-40B4-BE49-F238E27FC236}">
                <a16:creationId xmlns:a16="http://schemas.microsoft.com/office/drawing/2014/main" id="{E940A74B-0EB0-BE29-59BA-610692BE3896}"/>
              </a:ext>
            </a:extLst>
          </p:cNvPr>
          <p:cNvSpPr/>
          <p:nvPr/>
        </p:nvSpPr>
        <p:spPr>
          <a:xfrm>
            <a:off x="7928872" y="3666949"/>
            <a:ext cx="67159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</a:pPr>
            <a:r>
              <a:rPr lang="en-US" sz="1200" dirty="0" err="1">
                <a:latin typeface="Arial Nova" panose="020B0504020202020204" pitchFamily="34" charset="0"/>
                <a:ea typeface="KoPubWorld돋움체_Pro Medium" panose="00000600000000000000" pitchFamily="50" charset="-127"/>
              </a:rPr>
              <a:t>WiFi</a:t>
            </a:r>
            <a:r>
              <a:rPr lang="en-US" sz="1200" dirty="0">
                <a:latin typeface="Arial Nova" panose="020B0504020202020204" pitchFamily="34" charset="0"/>
                <a:ea typeface="KoPubWorld돋움체_Pro Medium" panose="00000600000000000000" pitchFamily="50" charset="-127"/>
              </a:rPr>
              <a:t> sensor</a:t>
            </a:r>
          </a:p>
        </p:txBody>
      </p:sp>
      <p:pic>
        <p:nvPicPr>
          <p:cNvPr id="82" name="그림 81">
            <a:extLst>
              <a:ext uri="{FF2B5EF4-FFF2-40B4-BE49-F238E27FC236}">
                <a16:creationId xmlns:a16="http://schemas.microsoft.com/office/drawing/2014/main" id="{008DC1F2-753C-2A22-8F65-9C21CE989BD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0" t="561" r="5833" b="16111"/>
          <a:stretch/>
        </p:blipFill>
        <p:spPr>
          <a:xfrm>
            <a:off x="9558574" y="2856151"/>
            <a:ext cx="810160" cy="808705"/>
          </a:xfrm>
          <a:prstGeom prst="rect">
            <a:avLst/>
          </a:prstGeom>
        </p:spPr>
      </p:pic>
      <p:sp>
        <p:nvSpPr>
          <p:cNvPr id="83" name="직사각형 82">
            <a:extLst>
              <a:ext uri="{FF2B5EF4-FFF2-40B4-BE49-F238E27FC236}">
                <a16:creationId xmlns:a16="http://schemas.microsoft.com/office/drawing/2014/main" id="{DDD611DC-E213-FA2B-98FD-B175AD8CBF8D}"/>
              </a:ext>
            </a:extLst>
          </p:cNvPr>
          <p:cNvSpPr/>
          <p:nvPr/>
        </p:nvSpPr>
        <p:spPr>
          <a:xfrm>
            <a:off x="9218326" y="3657371"/>
            <a:ext cx="1401210" cy="3911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100" dirty="0">
                <a:latin typeface="Arial Nova" panose="020B0504020202020204" pitchFamily="34" charset="0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Access point</a:t>
            </a:r>
            <a:br>
              <a:rPr lang="en-US" sz="1100" dirty="0">
                <a:latin typeface="Arial Nova" panose="020B0504020202020204" pitchFamily="34" charset="0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</a:br>
            <a:r>
              <a:rPr lang="en-US" sz="800" dirty="0">
                <a:latin typeface="Arial Nova" panose="020B0504020202020204" pitchFamily="34" charset="0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(e.g., Public </a:t>
            </a:r>
            <a:r>
              <a:rPr lang="en-US" sz="800" dirty="0" err="1">
                <a:latin typeface="Arial Nova" panose="020B0504020202020204" pitchFamily="34" charset="0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WiFi</a:t>
            </a:r>
            <a:r>
              <a:rPr lang="en-US" sz="800" dirty="0">
                <a:latin typeface="Arial Nova" panose="020B0504020202020204" pitchFamily="34" charset="0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)</a:t>
            </a:r>
            <a:endParaRPr lang="en-US" sz="1000" dirty="0"/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C72A2A7F-A9C0-ED4E-CCE0-26A5360396C1}"/>
              </a:ext>
            </a:extLst>
          </p:cNvPr>
          <p:cNvCxnSpPr>
            <a:cxnSpLocks/>
            <a:endCxn id="69" idx="1"/>
          </p:cNvCxnSpPr>
          <p:nvPr/>
        </p:nvCxnSpPr>
        <p:spPr>
          <a:xfrm>
            <a:off x="3851989" y="3408726"/>
            <a:ext cx="191904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오른쪽 중괄호 88">
            <a:extLst>
              <a:ext uri="{FF2B5EF4-FFF2-40B4-BE49-F238E27FC236}">
                <a16:creationId xmlns:a16="http://schemas.microsoft.com/office/drawing/2014/main" id="{DB503BC6-BDD3-9A10-066F-EFFA545F1A0B}"/>
              </a:ext>
            </a:extLst>
          </p:cNvPr>
          <p:cNvSpPr/>
          <p:nvPr/>
        </p:nvSpPr>
        <p:spPr>
          <a:xfrm rot="16200000">
            <a:off x="6414163" y="485677"/>
            <a:ext cx="338554" cy="7922629"/>
          </a:xfrm>
          <a:prstGeom prst="rightBrace">
            <a:avLst>
              <a:gd name="adj1" fmla="val 8333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원호 90">
            <a:extLst>
              <a:ext uri="{FF2B5EF4-FFF2-40B4-BE49-F238E27FC236}">
                <a16:creationId xmlns:a16="http://schemas.microsoft.com/office/drawing/2014/main" id="{3249FF02-EE85-70C8-0CA8-CD28D0BFCB3D}"/>
              </a:ext>
            </a:extLst>
          </p:cNvPr>
          <p:cNvSpPr/>
          <p:nvPr/>
        </p:nvSpPr>
        <p:spPr>
          <a:xfrm>
            <a:off x="6790712" y="3036424"/>
            <a:ext cx="2634276" cy="737482"/>
          </a:xfrm>
          <a:prstGeom prst="arc">
            <a:avLst>
              <a:gd name="adj1" fmla="val 11021529"/>
              <a:gd name="adj2" fmla="val 21490900"/>
            </a:avLst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5" name="그림 74">
            <a:extLst>
              <a:ext uri="{FF2B5EF4-FFF2-40B4-BE49-F238E27FC236}">
                <a16:creationId xmlns:a16="http://schemas.microsoft.com/office/drawing/2014/main" id="{441F72F6-4930-75AF-EAD8-AE11A4D2C3E7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5" t="4698" r="4999" b="19746"/>
          <a:stretch/>
        </p:blipFill>
        <p:spPr>
          <a:xfrm>
            <a:off x="8283598" y="2963815"/>
            <a:ext cx="297518" cy="260173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00A25583-8DD0-FB59-15CC-078FCCBCC315}"/>
              </a:ext>
            </a:extLst>
          </p:cNvPr>
          <p:cNvCxnSpPr>
            <a:cxnSpLocks/>
          </p:cNvCxnSpPr>
          <p:nvPr/>
        </p:nvCxnSpPr>
        <p:spPr>
          <a:xfrm flipH="1">
            <a:off x="7973656" y="3168492"/>
            <a:ext cx="177087" cy="237513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0F519E3A-66FF-D49B-F8EF-50CF4D142748}"/>
              </a:ext>
            </a:extLst>
          </p:cNvPr>
          <p:cNvSpPr/>
          <p:nvPr/>
        </p:nvSpPr>
        <p:spPr>
          <a:xfrm>
            <a:off x="7968428" y="4284083"/>
            <a:ext cx="1905407" cy="305894"/>
          </a:xfrm>
          <a:prstGeom prst="rect">
            <a:avLst/>
          </a:prstGeom>
          <a:noFill/>
          <a:ln>
            <a:noFill/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i="1" dirty="0">
                <a:solidFill>
                  <a:schemeClr val="tx1"/>
                </a:solidFill>
                <a:effectLst>
                  <a:glow rad="127000">
                    <a:schemeClr val="bg1">
                      <a:lumMod val="85000"/>
                      <a:alpha val="80000"/>
                    </a:schemeClr>
                  </a:glow>
                </a:effectLst>
                <a:latin typeface="Arial Nova" panose="020B0504020202020204" pitchFamily="34" charset="0"/>
              </a:rPr>
              <a:t>Extracted Metrics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A88167-C3BE-7D8C-8AA3-BDB1C6D222D8}"/>
              </a:ext>
            </a:extLst>
          </p:cNvPr>
          <p:cNvSpPr/>
          <p:nvPr/>
        </p:nvSpPr>
        <p:spPr>
          <a:xfrm>
            <a:off x="4088804" y="3243039"/>
            <a:ext cx="1452577" cy="305894"/>
          </a:xfrm>
          <a:prstGeom prst="rect">
            <a:avLst/>
          </a:prstGeom>
          <a:noFill/>
          <a:ln>
            <a:noFill/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i="1" dirty="0">
                <a:solidFill>
                  <a:schemeClr val="tx1"/>
                </a:solidFill>
                <a:effectLst>
                  <a:glow rad="127000">
                    <a:schemeClr val="bg1">
                      <a:lumMod val="85000"/>
                      <a:alpha val="80000"/>
                    </a:schemeClr>
                  </a:glow>
                </a:effectLst>
                <a:latin typeface="Arial Nova" panose="020B0504020202020204" pitchFamily="34" charset="0"/>
              </a:rPr>
              <a:t>Observed by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45BD1A8-9954-BF94-3C3B-523789ADA8D7}"/>
              </a:ext>
            </a:extLst>
          </p:cNvPr>
          <p:cNvCxnSpPr>
            <a:cxnSpLocks/>
          </p:cNvCxnSpPr>
          <p:nvPr/>
        </p:nvCxnSpPr>
        <p:spPr>
          <a:xfrm flipH="1">
            <a:off x="8043211" y="3217282"/>
            <a:ext cx="179838" cy="241203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F5934433-5780-10FA-A933-30050DBD9FBC}"/>
              </a:ext>
            </a:extLst>
          </p:cNvPr>
          <p:cNvCxnSpPr>
            <a:cxnSpLocks/>
          </p:cNvCxnSpPr>
          <p:nvPr/>
        </p:nvCxnSpPr>
        <p:spPr>
          <a:xfrm flipH="1">
            <a:off x="8113957" y="3265109"/>
            <a:ext cx="176494" cy="236718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원호 14">
            <a:extLst>
              <a:ext uri="{FF2B5EF4-FFF2-40B4-BE49-F238E27FC236}">
                <a16:creationId xmlns:a16="http://schemas.microsoft.com/office/drawing/2014/main" id="{4BA0D26F-2517-8F23-5370-76C3D74658E9}"/>
              </a:ext>
            </a:extLst>
          </p:cNvPr>
          <p:cNvSpPr/>
          <p:nvPr/>
        </p:nvSpPr>
        <p:spPr>
          <a:xfrm rot="21217624">
            <a:off x="6790712" y="2904438"/>
            <a:ext cx="2634276" cy="737482"/>
          </a:xfrm>
          <a:prstGeom prst="arc">
            <a:avLst>
              <a:gd name="adj1" fmla="val 11021529"/>
              <a:gd name="adj2" fmla="val 16873558"/>
            </a:avLst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63756AB-EAE6-3DA0-B209-FDB9D65047FC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5" t="4698" r="4999" b="19746"/>
          <a:stretch/>
        </p:blipFill>
        <p:spPr>
          <a:xfrm>
            <a:off x="7670910" y="2754445"/>
            <a:ext cx="297518" cy="260173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922831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6B8F8-B083-67B3-245F-AA1EF2733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" name="표 67">
            <a:extLst>
              <a:ext uri="{FF2B5EF4-FFF2-40B4-BE49-F238E27FC236}">
                <a16:creationId xmlns:a16="http://schemas.microsoft.com/office/drawing/2014/main" id="{D1EC9F6C-7016-96A0-A6FC-24BE66C87CDA}"/>
              </a:ext>
            </a:extLst>
          </p:cNvPr>
          <p:cNvGraphicFramePr>
            <a:graphicFrameLocks noGrp="1"/>
          </p:cNvGraphicFramePr>
          <p:nvPr/>
        </p:nvGraphicFramePr>
        <p:xfrm>
          <a:off x="2604897" y="2682024"/>
          <a:ext cx="1254258" cy="15845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223">
                  <a:extLst>
                    <a:ext uri="{9D8B030D-6E8A-4147-A177-3AD203B41FA5}">
                      <a16:colId xmlns:a16="http://schemas.microsoft.com/office/drawing/2014/main" val="1045483893"/>
                    </a:ext>
                  </a:extLst>
                </a:gridCol>
                <a:gridCol w="502035">
                  <a:extLst>
                    <a:ext uri="{9D8B030D-6E8A-4147-A177-3AD203B41FA5}">
                      <a16:colId xmlns:a16="http://schemas.microsoft.com/office/drawing/2014/main" val="3550168671"/>
                    </a:ext>
                  </a:extLst>
                </a:gridCol>
              </a:tblGrid>
              <a:tr h="1584531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Arial Nova" panose="020B05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Arial Nova" panose="020B05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813350"/>
                  </a:ext>
                </a:extLst>
              </a:tr>
            </a:tbl>
          </a:graphicData>
        </a:graphic>
      </p:graphicFrame>
      <p:graphicFrame>
        <p:nvGraphicFramePr>
          <p:cNvPr id="69" name="표 68">
            <a:extLst>
              <a:ext uri="{FF2B5EF4-FFF2-40B4-BE49-F238E27FC236}">
                <a16:creationId xmlns:a16="http://schemas.microsoft.com/office/drawing/2014/main" id="{ABEC1ED1-2970-2C3A-3120-77DC19C0677A}"/>
              </a:ext>
            </a:extLst>
          </p:cNvPr>
          <p:cNvGraphicFramePr>
            <a:graphicFrameLocks noGrp="1"/>
          </p:cNvGraphicFramePr>
          <p:nvPr/>
        </p:nvGraphicFramePr>
        <p:xfrm>
          <a:off x="4313043" y="2682024"/>
          <a:ext cx="6257432" cy="15845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57432">
                  <a:extLst>
                    <a:ext uri="{9D8B030D-6E8A-4147-A177-3AD203B41FA5}">
                      <a16:colId xmlns:a16="http://schemas.microsoft.com/office/drawing/2014/main" val="1045483893"/>
                    </a:ext>
                  </a:extLst>
                </a:gridCol>
              </a:tblGrid>
              <a:tr h="1584531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Arial Nova" panose="020B05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813350"/>
                  </a:ext>
                </a:extLst>
              </a:tr>
            </a:tbl>
          </a:graphicData>
        </a:graphic>
      </p:graphicFrame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6BD24E09-A0ED-A5B3-050E-D8411D7A190F}"/>
              </a:ext>
            </a:extLst>
          </p:cNvPr>
          <p:cNvCxnSpPr>
            <a:cxnSpLocks/>
          </p:cNvCxnSpPr>
          <p:nvPr/>
        </p:nvCxnSpPr>
        <p:spPr>
          <a:xfrm>
            <a:off x="2647849" y="6774913"/>
            <a:ext cx="7922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70E0B9D6-47C6-FF08-29A6-E97A699D13FD}"/>
              </a:ext>
            </a:extLst>
          </p:cNvPr>
          <p:cNvSpPr txBox="1"/>
          <p:nvPr/>
        </p:nvSpPr>
        <p:spPr>
          <a:xfrm>
            <a:off x="9552123" y="6795853"/>
            <a:ext cx="101835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Nova" panose="020B0504020202020204" pitchFamily="34" charset="0"/>
              </a:rPr>
              <a:t>Information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25AE49ED-6424-9164-981B-EEC739371850}"/>
              </a:ext>
            </a:extLst>
          </p:cNvPr>
          <p:cNvSpPr/>
          <p:nvPr/>
        </p:nvSpPr>
        <p:spPr>
          <a:xfrm>
            <a:off x="5956312" y="4984809"/>
            <a:ext cx="1254257" cy="11646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000" dirty="0">
              <a:latin typeface="Arial Nova" panose="020B0504020202020204" pitchFamily="34" charset="0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0B59BE9D-DC72-4ED7-812D-1E5DC250E6BF}"/>
              </a:ext>
            </a:extLst>
          </p:cNvPr>
          <p:cNvSpPr/>
          <p:nvPr/>
        </p:nvSpPr>
        <p:spPr>
          <a:xfrm>
            <a:off x="7643017" y="4984809"/>
            <a:ext cx="1254257" cy="11646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000" dirty="0">
              <a:latin typeface="Arial Nova" panose="020B0504020202020204" pitchFamily="34" charset="0"/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B5FC5D67-5FB5-55AC-9990-441B005069E4}"/>
              </a:ext>
            </a:extLst>
          </p:cNvPr>
          <p:cNvSpPr/>
          <p:nvPr/>
        </p:nvSpPr>
        <p:spPr>
          <a:xfrm>
            <a:off x="9296213" y="4984809"/>
            <a:ext cx="1254257" cy="11646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000" dirty="0">
              <a:latin typeface="Arial Nova" panose="020B0504020202020204" pitchFamily="34" charset="0"/>
            </a:endParaRPr>
          </a:p>
        </p:txBody>
      </p:sp>
      <p:pic>
        <p:nvPicPr>
          <p:cNvPr id="117" name="Picture 2" descr="보행자  프리미엄 아이콘">
            <a:extLst>
              <a:ext uri="{FF2B5EF4-FFF2-40B4-BE49-F238E27FC236}">
                <a16:creationId xmlns:a16="http://schemas.microsoft.com/office/drawing/2014/main" id="{5C818F3A-5B92-59E4-8A17-9C2C12140D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9330"/>
          <a:stretch/>
        </p:blipFill>
        <p:spPr bwMode="auto">
          <a:xfrm>
            <a:off x="3375424" y="3111539"/>
            <a:ext cx="397153" cy="434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8" name="Picture 4" descr="남자  프리미엄 아이콘">
            <a:extLst>
              <a:ext uri="{FF2B5EF4-FFF2-40B4-BE49-F238E27FC236}">
                <a16:creationId xmlns:a16="http://schemas.microsoft.com/office/drawing/2014/main" id="{C299DF07-A3E2-CE19-4C29-2C62EB8EB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1685" y="2892853"/>
            <a:ext cx="397153" cy="397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9" name="Picture 2" descr="보행자  프리미엄 아이콘">
            <a:extLst>
              <a:ext uri="{FF2B5EF4-FFF2-40B4-BE49-F238E27FC236}">
                <a16:creationId xmlns:a16="http://schemas.microsoft.com/office/drawing/2014/main" id="{4D1D3A67-7FE8-7860-B36C-8538976568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674497" y="3610153"/>
            <a:ext cx="397153" cy="397153"/>
          </a:xfrm>
          <a:prstGeom prst="rect">
            <a:avLst/>
          </a:prstGeom>
          <a:noFill/>
        </p:spPr>
      </p:pic>
      <p:sp>
        <p:nvSpPr>
          <p:cNvPr id="120" name="타원 119">
            <a:extLst>
              <a:ext uri="{FF2B5EF4-FFF2-40B4-BE49-F238E27FC236}">
                <a16:creationId xmlns:a16="http://schemas.microsoft.com/office/drawing/2014/main" id="{45A4895C-DE62-CA45-C100-3DE07D113B7A}"/>
              </a:ext>
            </a:extLst>
          </p:cNvPr>
          <p:cNvSpPr/>
          <p:nvPr/>
        </p:nvSpPr>
        <p:spPr>
          <a:xfrm>
            <a:off x="2844416" y="4159888"/>
            <a:ext cx="179180" cy="1791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C4E4FFA1-DB50-ADB1-7DD5-BE4478C88804}"/>
              </a:ext>
            </a:extLst>
          </p:cNvPr>
          <p:cNvSpPr/>
          <p:nvPr/>
        </p:nvSpPr>
        <p:spPr>
          <a:xfrm>
            <a:off x="3530718" y="4078458"/>
            <a:ext cx="179180" cy="1791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4" name="연결선: 구부러짐 123">
            <a:extLst>
              <a:ext uri="{FF2B5EF4-FFF2-40B4-BE49-F238E27FC236}">
                <a16:creationId xmlns:a16="http://schemas.microsoft.com/office/drawing/2014/main" id="{B9C6E2F2-B6D7-46EC-925D-CA8F93A9446F}"/>
              </a:ext>
            </a:extLst>
          </p:cNvPr>
          <p:cNvCxnSpPr>
            <a:cxnSpLocks/>
          </p:cNvCxnSpPr>
          <p:nvPr/>
        </p:nvCxnSpPr>
        <p:spPr>
          <a:xfrm flipV="1">
            <a:off x="6352008" y="5645421"/>
            <a:ext cx="499157" cy="42030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연결선: 구부러짐 124">
            <a:extLst>
              <a:ext uri="{FF2B5EF4-FFF2-40B4-BE49-F238E27FC236}">
                <a16:creationId xmlns:a16="http://schemas.microsoft.com/office/drawing/2014/main" id="{8E618DA7-F84D-E4C1-E94F-D396FBFED5D8}"/>
              </a:ext>
            </a:extLst>
          </p:cNvPr>
          <p:cNvCxnSpPr>
            <a:cxnSpLocks/>
          </p:cNvCxnSpPr>
          <p:nvPr/>
        </p:nvCxnSpPr>
        <p:spPr>
          <a:xfrm rot="16200000" flipV="1">
            <a:off x="6519595" y="5659990"/>
            <a:ext cx="332735" cy="53622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6" name="타원 125">
            <a:extLst>
              <a:ext uri="{FF2B5EF4-FFF2-40B4-BE49-F238E27FC236}">
                <a16:creationId xmlns:a16="http://schemas.microsoft.com/office/drawing/2014/main" id="{1A419720-CCE1-9EE5-145C-02C485C68254}"/>
              </a:ext>
            </a:extLst>
          </p:cNvPr>
          <p:cNvSpPr/>
          <p:nvPr/>
        </p:nvSpPr>
        <p:spPr>
          <a:xfrm>
            <a:off x="2962242" y="5128301"/>
            <a:ext cx="163963" cy="17396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타원 126">
            <a:extLst>
              <a:ext uri="{FF2B5EF4-FFF2-40B4-BE49-F238E27FC236}">
                <a16:creationId xmlns:a16="http://schemas.microsoft.com/office/drawing/2014/main" id="{CD72C397-68E9-9321-987E-A79C132A4FA5}"/>
              </a:ext>
            </a:extLst>
          </p:cNvPr>
          <p:cNvSpPr/>
          <p:nvPr/>
        </p:nvSpPr>
        <p:spPr>
          <a:xfrm>
            <a:off x="3467470" y="5416449"/>
            <a:ext cx="163963" cy="17396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타원 127">
            <a:extLst>
              <a:ext uri="{FF2B5EF4-FFF2-40B4-BE49-F238E27FC236}">
                <a16:creationId xmlns:a16="http://schemas.microsoft.com/office/drawing/2014/main" id="{BBEA96C3-EC69-99B7-C2A8-88338011FA15}"/>
              </a:ext>
            </a:extLst>
          </p:cNvPr>
          <p:cNvSpPr/>
          <p:nvPr/>
        </p:nvSpPr>
        <p:spPr>
          <a:xfrm>
            <a:off x="2838016" y="5671117"/>
            <a:ext cx="163963" cy="17396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타원 128">
            <a:extLst>
              <a:ext uri="{FF2B5EF4-FFF2-40B4-BE49-F238E27FC236}">
                <a16:creationId xmlns:a16="http://schemas.microsoft.com/office/drawing/2014/main" id="{F1397C5E-B269-DC18-90D9-8BA86C446CE8}"/>
              </a:ext>
            </a:extLst>
          </p:cNvPr>
          <p:cNvSpPr/>
          <p:nvPr/>
        </p:nvSpPr>
        <p:spPr>
          <a:xfrm>
            <a:off x="8435521" y="5416449"/>
            <a:ext cx="163963" cy="173966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타원 129">
            <a:extLst>
              <a:ext uri="{FF2B5EF4-FFF2-40B4-BE49-F238E27FC236}">
                <a16:creationId xmlns:a16="http://schemas.microsoft.com/office/drawing/2014/main" id="{286C148E-1E4E-2051-8366-932B0E772B5B}"/>
              </a:ext>
            </a:extLst>
          </p:cNvPr>
          <p:cNvSpPr/>
          <p:nvPr/>
        </p:nvSpPr>
        <p:spPr>
          <a:xfrm>
            <a:off x="7831467" y="5671117"/>
            <a:ext cx="163963" cy="173966"/>
          </a:xfrm>
          <a:prstGeom prst="ellipse">
            <a:avLst/>
          </a:prstGeom>
          <a:solidFill>
            <a:srgbClr val="CDCD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1" name="연결선: 구부러짐 130">
            <a:extLst>
              <a:ext uri="{FF2B5EF4-FFF2-40B4-BE49-F238E27FC236}">
                <a16:creationId xmlns:a16="http://schemas.microsoft.com/office/drawing/2014/main" id="{23CDE465-1181-400D-434B-A7F7A256F5C7}"/>
              </a:ext>
            </a:extLst>
          </p:cNvPr>
          <p:cNvCxnSpPr>
            <a:cxnSpLocks/>
          </p:cNvCxnSpPr>
          <p:nvPr/>
        </p:nvCxnSpPr>
        <p:spPr>
          <a:xfrm flipV="1">
            <a:off x="7995430" y="5645421"/>
            <a:ext cx="499157" cy="42030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연결선: 구부러짐 131">
            <a:extLst>
              <a:ext uri="{FF2B5EF4-FFF2-40B4-BE49-F238E27FC236}">
                <a16:creationId xmlns:a16="http://schemas.microsoft.com/office/drawing/2014/main" id="{5DE63126-94E6-9E85-C504-C9E5E6365676}"/>
              </a:ext>
            </a:extLst>
          </p:cNvPr>
          <p:cNvCxnSpPr>
            <a:cxnSpLocks/>
          </p:cNvCxnSpPr>
          <p:nvPr/>
        </p:nvCxnSpPr>
        <p:spPr>
          <a:xfrm rot="16200000" flipV="1">
            <a:off x="8163017" y="5659990"/>
            <a:ext cx="332735" cy="53622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" name="타원 132">
            <a:extLst>
              <a:ext uri="{FF2B5EF4-FFF2-40B4-BE49-F238E27FC236}">
                <a16:creationId xmlns:a16="http://schemas.microsoft.com/office/drawing/2014/main" id="{0A4F689C-1134-4073-C2AC-91B5FCA61CCA}"/>
              </a:ext>
            </a:extLst>
          </p:cNvPr>
          <p:cNvSpPr/>
          <p:nvPr/>
        </p:nvSpPr>
        <p:spPr>
          <a:xfrm>
            <a:off x="9619497" y="5128301"/>
            <a:ext cx="163963" cy="17396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B7C8538B-74B1-2F38-02FC-FAEE1CF0F54E}"/>
              </a:ext>
            </a:extLst>
          </p:cNvPr>
          <p:cNvSpPr/>
          <p:nvPr/>
        </p:nvSpPr>
        <p:spPr>
          <a:xfrm>
            <a:off x="10099325" y="5416449"/>
            <a:ext cx="163963" cy="173966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5BF7EB9B-CE33-E455-B375-A363C2DA33B8}"/>
              </a:ext>
            </a:extLst>
          </p:cNvPr>
          <p:cNvSpPr/>
          <p:nvPr/>
        </p:nvSpPr>
        <p:spPr>
          <a:xfrm>
            <a:off x="9495271" y="5671117"/>
            <a:ext cx="163963" cy="173966"/>
          </a:xfrm>
          <a:prstGeom prst="ellipse">
            <a:avLst/>
          </a:prstGeom>
          <a:solidFill>
            <a:srgbClr val="CDCD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6" name="연결선: 구부러짐 135">
            <a:extLst>
              <a:ext uri="{FF2B5EF4-FFF2-40B4-BE49-F238E27FC236}">
                <a16:creationId xmlns:a16="http://schemas.microsoft.com/office/drawing/2014/main" id="{79047A3C-6371-7423-26D6-2E2EF2D06FC1}"/>
              </a:ext>
            </a:extLst>
          </p:cNvPr>
          <p:cNvCxnSpPr>
            <a:cxnSpLocks/>
          </p:cNvCxnSpPr>
          <p:nvPr/>
        </p:nvCxnSpPr>
        <p:spPr>
          <a:xfrm flipV="1">
            <a:off x="9659234" y="5645421"/>
            <a:ext cx="499157" cy="42030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연결선: 구부러짐 136">
            <a:extLst>
              <a:ext uri="{FF2B5EF4-FFF2-40B4-BE49-F238E27FC236}">
                <a16:creationId xmlns:a16="http://schemas.microsoft.com/office/drawing/2014/main" id="{1A8771D7-ACC0-5A8F-FD82-0A5EDC1C1CAA}"/>
              </a:ext>
            </a:extLst>
          </p:cNvPr>
          <p:cNvCxnSpPr>
            <a:cxnSpLocks/>
          </p:cNvCxnSpPr>
          <p:nvPr/>
        </p:nvCxnSpPr>
        <p:spPr>
          <a:xfrm rot="16200000" flipV="1">
            <a:off x="9826821" y="5659990"/>
            <a:ext cx="332735" cy="53622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DF419C4C-767B-A315-6CA3-B2018EA3EFBC}"/>
              </a:ext>
            </a:extLst>
          </p:cNvPr>
          <p:cNvSpPr txBox="1"/>
          <p:nvPr/>
        </p:nvSpPr>
        <p:spPr>
          <a:xfrm>
            <a:off x="9438984" y="5274228"/>
            <a:ext cx="5232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 Nova" panose="020B0504020202020204" pitchFamily="34" charset="0"/>
              </a:rPr>
              <a:t>Stay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37F4B94D-CBED-9905-C265-9C68DE738F57}"/>
              </a:ext>
            </a:extLst>
          </p:cNvPr>
          <p:cNvSpPr txBox="1"/>
          <p:nvPr/>
        </p:nvSpPr>
        <p:spPr>
          <a:xfrm>
            <a:off x="4264667" y="4646255"/>
            <a:ext cx="1326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 Nova" panose="020B0504020202020204" pitchFamily="34" charset="0"/>
              </a:rPr>
              <a:t>Count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5920D420-972C-C092-0409-28818AC2A07B}"/>
              </a:ext>
            </a:extLst>
          </p:cNvPr>
          <p:cNvSpPr txBox="1"/>
          <p:nvPr/>
        </p:nvSpPr>
        <p:spPr>
          <a:xfrm>
            <a:off x="2574814" y="4646255"/>
            <a:ext cx="1326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 Nova" panose="020B0504020202020204" pitchFamily="34" charset="0"/>
              </a:rPr>
              <a:t>Location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CEF32494-EA49-8D8F-73F5-41751FE94456}"/>
              </a:ext>
            </a:extLst>
          </p:cNvPr>
          <p:cNvSpPr txBox="1"/>
          <p:nvPr/>
        </p:nvSpPr>
        <p:spPr>
          <a:xfrm>
            <a:off x="5935613" y="4646255"/>
            <a:ext cx="1326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 Nova" panose="020B0504020202020204" pitchFamily="34" charset="0"/>
              </a:rPr>
              <a:t>Track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7E1F4DB4-86CA-37EF-AD51-FF9E7C9D90CE}"/>
              </a:ext>
            </a:extLst>
          </p:cNvPr>
          <p:cNvSpPr txBox="1"/>
          <p:nvPr/>
        </p:nvSpPr>
        <p:spPr>
          <a:xfrm>
            <a:off x="7608783" y="4646255"/>
            <a:ext cx="1326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 Nova" panose="020B0504020202020204" pitchFamily="34" charset="0"/>
              </a:rPr>
              <a:t>Identify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026D34FD-9028-50F8-6D55-F062BCAE37B2}"/>
              </a:ext>
            </a:extLst>
          </p:cNvPr>
          <p:cNvSpPr txBox="1"/>
          <p:nvPr/>
        </p:nvSpPr>
        <p:spPr>
          <a:xfrm>
            <a:off x="9244211" y="4646255"/>
            <a:ext cx="1326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 Nova" panose="020B0504020202020204" pitchFamily="34" charset="0"/>
              </a:rPr>
              <a:t>Activities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A3413ED-2F21-D33C-4BB4-37297C8E6101}"/>
              </a:ext>
            </a:extLst>
          </p:cNvPr>
          <p:cNvSpPr txBox="1"/>
          <p:nvPr/>
        </p:nvSpPr>
        <p:spPr>
          <a:xfrm>
            <a:off x="2509162" y="2322873"/>
            <a:ext cx="14457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 Nova" panose="020B0504020202020204" pitchFamily="34" charset="0"/>
              </a:rPr>
              <a:t>Ground truth</a:t>
            </a:r>
          </a:p>
        </p:txBody>
      </p:sp>
      <p:sp>
        <p:nvSpPr>
          <p:cNvPr id="145" name="타원 144">
            <a:extLst>
              <a:ext uri="{FF2B5EF4-FFF2-40B4-BE49-F238E27FC236}">
                <a16:creationId xmlns:a16="http://schemas.microsoft.com/office/drawing/2014/main" id="{BB17BD7F-102F-8E64-DD82-A1CBA9A79DA0}"/>
              </a:ext>
            </a:extLst>
          </p:cNvPr>
          <p:cNvSpPr/>
          <p:nvPr/>
        </p:nvSpPr>
        <p:spPr>
          <a:xfrm>
            <a:off x="7979290" y="5128301"/>
            <a:ext cx="163963" cy="17396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0" name="그룹 169">
            <a:extLst>
              <a:ext uri="{FF2B5EF4-FFF2-40B4-BE49-F238E27FC236}">
                <a16:creationId xmlns:a16="http://schemas.microsoft.com/office/drawing/2014/main" id="{85FA49D5-700B-E079-8797-986A1B04E19E}"/>
              </a:ext>
            </a:extLst>
          </p:cNvPr>
          <p:cNvGrpSpPr/>
          <p:nvPr/>
        </p:nvGrpSpPr>
        <p:grpSpPr>
          <a:xfrm>
            <a:off x="6186058" y="5128301"/>
            <a:ext cx="768017" cy="716782"/>
            <a:chOff x="6664338" y="5129031"/>
            <a:chExt cx="768017" cy="716782"/>
          </a:xfrm>
        </p:grpSpPr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DEBC83F5-1912-D273-F2FD-C67F19D436A1}"/>
                </a:ext>
              </a:extLst>
            </p:cNvPr>
            <p:cNvSpPr/>
            <p:nvPr/>
          </p:nvSpPr>
          <p:spPr>
            <a:xfrm>
              <a:off x="7268392" y="5417179"/>
              <a:ext cx="163963" cy="17396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3A38878D-C37C-AA42-BF75-6238F1BA57DC}"/>
                </a:ext>
              </a:extLst>
            </p:cNvPr>
            <p:cNvSpPr/>
            <p:nvPr/>
          </p:nvSpPr>
          <p:spPr>
            <a:xfrm>
              <a:off x="6664338" y="5671847"/>
              <a:ext cx="163963" cy="17396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26DB670E-F188-776A-105F-29BC22833DBD}"/>
                </a:ext>
              </a:extLst>
            </p:cNvPr>
            <p:cNvSpPr/>
            <p:nvPr/>
          </p:nvSpPr>
          <p:spPr>
            <a:xfrm>
              <a:off x="6814148" y="5129031"/>
              <a:ext cx="163963" cy="17396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7" name="연결선: 구부러짐 146">
            <a:extLst>
              <a:ext uri="{FF2B5EF4-FFF2-40B4-BE49-F238E27FC236}">
                <a16:creationId xmlns:a16="http://schemas.microsoft.com/office/drawing/2014/main" id="{29DF13DB-3579-A438-A4ED-C89044076C21}"/>
              </a:ext>
            </a:extLst>
          </p:cNvPr>
          <p:cNvCxnSpPr>
            <a:cxnSpLocks/>
          </p:cNvCxnSpPr>
          <p:nvPr/>
        </p:nvCxnSpPr>
        <p:spPr>
          <a:xfrm flipV="1">
            <a:off x="3095550" y="3602899"/>
            <a:ext cx="457200" cy="35899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연결선: 구부러짐 147">
            <a:extLst>
              <a:ext uri="{FF2B5EF4-FFF2-40B4-BE49-F238E27FC236}">
                <a16:creationId xmlns:a16="http://schemas.microsoft.com/office/drawing/2014/main" id="{01D1A554-7DA9-F2E3-B129-2A921F2B4AE2}"/>
              </a:ext>
            </a:extLst>
          </p:cNvPr>
          <p:cNvCxnSpPr>
            <a:cxnSpLocks/>
          </p:cNvCxnSpPr>
          <p:nvPr/>
        </p:nvCxnSpPr>
        <p:spPr>
          <a:xfrm rot="16200000" flipV="1">
            <a:off x="3199492" y="3637580"/>
            <a:ext cx="274320" cy="45720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D06F20DB-8E29-DE0C-E76A-426F71F4D55A}"/>
              </a:ext>
            </a:extLst>
          </p:cNvPr>
          <p:cNvSpPr txBox="1"/>
          <p:nvPr/>
        </p:nvSpPr>
        <p:spPr>
          <a:xfrm>
            <a:off x="2574814" y="6164013"/>
            <a:ext cx="152932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Nova" panose="020B0504020202020204" pitchFamily="34" charset="0"/>
              </a:rPr>
              <a:t>WiFi signal-based localization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A9E03270-CC66-4BD0-4D52-1C58F8CF9E5B}"/>
              </a:ext>
            </a:extLst>
          </p:cNvPr>
          <p:cNvSpPr txBox="1"/>
          <p:nvPr/>
        </p:nvSpPr>
        <p:spPr>
          <a:xfrm>
            <a:off x="4313045" y="6164013"/>
            <a:ext cx="13491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Nova" panose="020B0504020202020204" pitchFamily="34" charset="0"/>
              </a:rPr>
              <a:t># of unique MAC addresses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38184331-5C74-1A8D-B880-1C4818EFDA22}"/>
              </a:ext>
            </a:extLst>
          </p:cNvPr>
          <p:cNvSpPr txBox="1"/>
          <p:nvPr/>
        </p:nvSpPr>
        <p:spPr>
          <a:xfrm>
            <a:off x="5956311" y="6164013"/>
            <a:ext cx="13491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Nova" panose="020B0504020202020204" pitchFamily="34" charset="0"/>
              </a:rPr>
              <a:t>Timestamp + location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68829F8-A87D-1C92-3384-FEB9E75E0B17}"/>
              </a:ext>
            </a:extLst>
          </p:cNvPr>
          <p:cNvSpPr txBox="1"/>
          <p:nvPr/>
        </p:nvSpPr>
        <p:spPr>
          <a:xfrm>
            <a:off x="7627959" y="6164013"/>
            <a:ext cx="13491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Nova" panose="020B0504020202020204" pitchFamily="34" charset="0"/>
              </a:rPr>
              <a:t>Historical tracking data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AD30F2A-7D54-F3F9-E62B-E5F8B3CC4FF9}"/>
              </a:ext>
            </a:extLst>
          </p:cNvPr>
          <p:cNvSpPr txBox="1"/>
          <p:nvPr/>
        </p:nvSpPr>
        <p:spPr>
          <a:xfrm>
            <a:off x="9275086" y="6164013"/>
            <a:ext cx="13491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Nova" panose="020B0504020202020204" pitchFamily="34" charset="0"/>
              </a:rPr>
              <a:t>Spatiotemporal data mining</a:t>
            </a:r>
          </a:p>
        </p:txBody>
      </p:sp>
      <p:graphicFrame>
        <p:nvGraphicFramePr>
          <p:cNvPr id="168" name="표 167">
            <a:extLst>
              <a:ext uri="{FF2B5EF4-FFF2-40B4-BE49-F238E27FC236}">
                <a16:creationId xmlns:a16="http://schemas.microsoft.com/office/drawing/2014/main" id="{8F5E72F9-332E-FBF5-FDCE-1C2CCC6AE71F}"/>
              </a:ext>
            </a:extLst>
          </p:cNvPr>
          <p:cNvGraphicFramePr>
            <a:graphicFrameLocks noGrp="1"/>
          </p:cNvGraphicFramePr>
          <p:nvPr/>
        </p:nvGraphicFramePr>
        <p:xfrm>
          <a:off x="4313044" y="4979698"/>
          <a:ext cx="1254258" cy="11882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7043">
                  <a:extLst>
                    <a:ext uri="{9D8B030D-6E8A-4147-A177-3AD203B41FA5}">
                      <a16:colId xmlns:a16="http://schemas.microsoft.com/office/drawing/2014/main" val="1045483893"/>
                    </a:ext>
                  </a:extLst>
                </a:gridCol>
                <a:gridCol w="487215">
                  <a:extLst>
                    <a:ext uri="{9D8B030D-6E8A-4147-A177-3AD203B41FA5}">
                      <a16:colId xmlns:a16="http://schemas.microsoft.com/office/drawing/2014/main" val="3550168671"/>
                    </a:ext>
                  </a:extLst>
                </a:gridCol>
              </a:tblGrid>
              <a:tr h="118828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813350"/>
                  </a:ext>
                </a:extLst>
              </a:tr>
            </a:tbl>
          </a:graphicData>
        </a:graphic>
      </p:graphicFrame>
      <p:graphicFrame>
        <p:nvGraphicFramePr>
          <p:cNvPr id="169" name="표 168">
            <a:extLst>
              <a:ext uri="{FF2B5EF4-FFF2-40B4-BE49-F238E27FC236}">
                <a16:creationId xmlns:a16="http://schemas.microsoft.com/office/drawing/2014/main" id="{16FCA89B-6718-48B3-3AAE-1C37A86120D5}"/>
              </a:ext>
            </a:extLst>
          </p:cNvPr>
          <p:cNvGraphicFramePr>
            <a:graphicFrameLocks noGrp="1"/>
          </p:cNvGraphicFramePr>
          <p:nvPr/>
        </p:nvGraphicFramePr>
        <p:xfrm>
          <a:off x="2604897" y="4980378"/>
          <a:ext cx="1254258" cy="11882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223">
                  <a:extLst>
                    <a:ext uri="{9D8B030D-6E8A-4147-A177-3AD203B41FA5}">
                      <a16:colId xmlns:a16="http://schemas.microsoft.com/office/drawing/2014/main" val="1045483893"/>
                    </a:ext>
                  </a:extLst>
                </a:gridCol>
                <a:gridCol w="502035">
                  <a:extLst>
                    <a:ext uri="{9D8B030D-6E8A-4147-A177-3AD203B41FA5}">
                      <a16:colId xmlns:a16="http://schemas.microsoft.com/office/drawing/2014/main" val="3550168671"/>
                    </a:ext>
                  </a:extLst>
                </a:gridCol>
              </a:tblGrid>
              <a:tr h="1188289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Arial Nova" panose="020B05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Arial Nova" panose="020B05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813350"/>
                  </a:ext>
                </a:extLst>
              </a:tr>
            </a:tbl>
          </a:graphicData>
        </a:graphic>
      </p:graphicFrame>
      <p:pic>
        <p:nvPicPr>
          <p:cNvPr id="38" name="그림 37">
            <a:extLst>
              <a:ext uri="{FF2B5EF4-FFF2-40B4-BE49-F238E27FC236}">
                <a16:creationId xmlns:a16="http://schemas.microsoft.com/office/drawing/2014/main" id="{7C14E989-876C-5A13-0EF0-68AF36AA11A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7784" y="2814792"/>
            <a:ext cx="807141" cy="850064"/>
          </a:xfrm>
          <a:prstGeom prst="rect">
            <a:avLst/>
          </a:prstGeom>
        </p:spPr>
      </p:pic>
      <p:sp>
        <p:nvSpPr>
          <p:cNvPr id="39" name="직사각형 38">
            <a:extLst>
              <a:ext uri="{FF2B5EF4-FFF2-40B4-BE49-F238E27FC236}">
                <a16:creationId xmlns:a16="http://schemas.microsoft.com/office/drawing/2014/main" id="{E00D6C7F-A367-C95A-E1E2-35B244444D4C}"/>
              </a:ext>
            </a:extLst>
          </p:cNvPr>
          <p:cNvSpPr/>
          <p:nvPr/>
        </p:nvSpPr>
        <p:spPr>
          <a:xfrm>
            <a:off x="4381517" y="3711636"/>
            <a:ext cx="17013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300" dirty="0" err="1">
                <a:latin typeface="Arial Nova" panose="020B0504020202020204" pitchFamily="34" charset="0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WiFi</a:t>
            </a:r>
            <a:r>
              <a:rPr lang="en-US" sz="1300" dirty="0">
                <a:latin typeface="Arial Nova" panose="020B0504020202020204" pitchFamily="34" charset="0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-enabled Devices</a:t>
            </a:r>
            <a:endParaRPr lang="en-US" sz="13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1A4DA55-3FDD-95ED-8425-67DA08105B2D}"/>
              </a:ext>
            </a:extLst>
          </p:cNvPr>
          <p:cNvSpPr txBox="1"/>
          <p:nvPr/>
        </p:nvSpPr>
        <p:spPr>
          <a:xfrm>
            <a:off x="4264667" y="2322873"/>
            <a:ext cx="1641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latin typeface="Arial Nova" panose="020B0504020202020204" pitchFamily="34" charset="0"/>
              </a:rPr>
              <a:t>WiFi</a:t>
            </a:r>
            <a:r>
              <a:rPr lang="en-US" sz="1600" b="1" dirty="0">
                <a:latin typeface="Arial Nova" panose="020B0504020202020204" pitchFamily="34" charset="0"/>
              </a:rPr>
              <a:t> Sensing</a:t>
            </a:r>
          </a:p>
        </p:txBody>
      </p:sp>
      <p:pic>
        <p:nvPicPr>
          <p:cNvPr id="74" name="그림 73">
            <a:extLst>
              <a:ext uri="{FF2B5EF4-FFF2-40B4-BE49-F238E27FC236}">
                <a16:creationId xmlns:a16="http://schemas.microsoft.com/office/drawing/2014/main" id="{C93C6098-115D-9369-5375-1FA4F471849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9" t="26921" r="28285" b="29652"/>
          <a:stretch/>
        </p:blipFill>
        <p:spPr>
          <a:xfrm>
            <a:off x="9208477" y="2933644"/>
            <a:ext cx="781438" cy="795376"/>
          </a:xfrm>
          <a:prstGeom prst="rect">
            <a:avLst/>
          </a:prstGeom>
        </p:spPr>
      </p:pic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90168102-A8D3-1DB6-08E5-D1BDAF5751BF}"/>
              </a:ext>
            </a:extLst>
          </p:cNvPr>
          <p:cNvCxnSpPr>
            <a:cxnSpLocks/>
          </p:cNvCxnSpPr>
          <p:nvPr/>
        </p:nvCxnSpPr>
        <p:spPr>
          <a:xfrm>
            <a:off x="5440884" y="3347282"/>
            <a:ext cx="1135176" cy="0"/>
          </a:xfrm>
          <a:prstGeom prst="straightConnector1">
            <a:avLst/>
          </a:prstGeom>
          <a:ln w="9525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그림 74">
            <a:extLst>
              <a:ext uri="{FF2B5EF4-FFF2-40B4-BE49-F238E27FC236}">
                <a16:creationId xmlns:a16="http://schemas.microsoft.com/office/drawing/2014/main" id="{C1483AFC-E66D-8D28-1C16-491631B9702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5" t="4698" r="4999" b="19746"/>
          <a:stretch/>
        </p:blipFill>
        <p:spPr>
          <a:xfrm>
            <a:off x="5821002" y="3164242"/>
            <a:ext cx="362898" cy="31734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81" name="직사각형 80">
            <a:extLst>
              <a:ext uri="{FF2B5EF4-FFF2-40B4-BE49-F238E27FC236}">
                <a16:creationId xmlns:a16="http://schemas.microsoft.com/office/drawing/2014/main" id="{D1DED98E-B320-C5F7-6403-9AC3BF35AB7B}"/>
              </a:ext>
            </a:extLst>
          </p:cNvPr>
          <p:cNvSpPr/>
          <p:nvPr/>
        </p:nvSpPr>
        <p:spPr>
          <a:xfrm>
            <a:off x="9131677" y="3711636"/>
            <a:ext cx="96756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300" dirty="0" err="1">
                <a:latin typeface="Arial Nova" panose="020B0504020202020204" pitchFamily="34" charset="0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WiFi</a:t>
            </a:r>
            <a:r>
              <a:rPr lang="en-US" sz="1300" dirty="0">
                <a:latin typeface="Arial Nova" panose="020B0504020202020204" pitchFamily="34" charset="0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 sensor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313988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도표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6EEA232-2F9D-39DB-F905-31B6CA0210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575" y="5681512"/>
            <a:ext cx="11031009" cy="299960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1EFAF52-F6DD-053F-4C2C-BF13E1D8662A}"/>
              </a:ext>
            </a:extLst>
          </p:cNvPr>
          <p:cNvSpPr/>
          <p:nvPr/>
        </p:nvSpPr>
        <p:spPr>
          <a:xfrm>
            <a:off x="573487" y="5527623"/>
            <a:ext cx="1836337" cy="30777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 Nova" panose="020B0504020202020204" pitchFamily="34" charset="0"/>
                <a:ea typeface="KoPubWorld돋움체_Pro Medium" panose="00000600000000000000" pitchFamily="50" charset="-127"/>
              </a:rPr>
              <a:t>Extracting</a:t>
            </a:r>
            <a:r>
              <a:rPr lang="ko-KR" altLang="en-US" sz="1400" b="1" dirty="0">
                <a:solidFill>
                  <a:schemeClr val="bg1"/>
                </a:solidFill>
                <a:latin typeface="Arial Nova" panose="020B0504020202020204" pitchFamily="34" charset="0"/>
                <a:ea typeface="KoPubWorld돋움체_Pro Medium" panose="00000600000000000000" pitchFamily="50" charset="-127"/>
              </a:rPr>
              <a:t> </a:t>
            </a:r>
            <a:r>
              <a:rPr lang="en-US" altLang="ko-KR" sz="1400" b="1" dirty="0">
                <a:solidFill>
                  <a:schemeClr val="bg1"/>
                </a:solidFill>
                <a:latin typeface="Arial Nova" panose="020B0504020202020204" pitchFamily="34" charset="0"/>
                <a:ea typeface="KoPubWorld돋움체_Pro Medium" panose="00000600000000000000" pitchFamily="50" charset="-127"/>
              </a:rPr>
              <a:t>Metrics</a:t>
            </a:r>
            <a:endParaRPr lang="en-US" sz="1400" b="1" dirty="0">
              <a:solidFill>
                <a:schemeClr val="bg1"/>
              </a:solidFill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7014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1755</TotalTime>
  <Words>146</Words>
  <Application>Microsoft Office PowerPoint</Application>
  <PresentationFormat>A3 용지(297x420mm)</PresentationFormat>
  <Paragraphs>68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맑은 고딕</vt:lpstr>
      <vt:lpstr>Arial</vt:lpstr>
      <vt:lpstr>Arial Nova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(대학원생) 박주현 (도시환경공학과)</dc:creator>
  <cp:lastModifiedBy>Juhyeon Park</cp:lastModifiedBy>
  <cp:revision>7</cp:revision>
  <dcterms:created xsi:type="dcterms:W3CDTF">2023-04-17T06:47:15Z</dcterms:created>
  <dcterms:modified xsi:type="dcterms:W3CDTF">2026-02-09T07:35:46Z</dcterms:modified>
</cp:coreProperties>
</file>